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6960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934700" y="254000"/>
            <a:ext cx="10414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Drives adoption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824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213340" y="254000"/>
            <a:ext cx="5943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Governs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9452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59620" y="254000"/>
            <a:ext cx="4267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4359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79459" y="254000"/>
            <a:ext cx="11531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Builds &amp; delivers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000" y="177800"/>
            <a:ext cx="770635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212529"/>
                </a:solidFill>
              </a:rPr>
              <a:t>Portfolio overview — who does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00" y="469900"/>
            <a:ext cx="11684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6"/>
              </a:lnSpc>
            </a:pPr>
            <a:r>
              <a:rPr sz="950" b="0">
                <a:solidFill>
                  <a:srgbClr val="868E96"/>
                </a:solidFill>
              </a:rPr>
              <a:t>Rows are propositions · columns are divisions · colour is the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000" y="939800"/>
            <a:ext cx="16764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868E96"/>
                </a:solidFill>
              </a:rPr>
              <a:t>Propositions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2000" y="787400"/>
            <a:ext cx="3234266" cy="558800"/>
          </a:xfrm>
          <a:prstGeom prst="roundRect">
            <a:avLst>
              <a:gd name="adj" fmla="val 909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133600" y="850900"/>
            <a:ext cx="303106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1">
                <a:solidFill>
                  <a:srgbClr val="FFFFFF"/>
                </a:solidFill>
              </a:rPr>
              <a:t>Cloud &amp; Development  (C&amp;D)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C9E0E4"/>
                </a:solidFill>
              </a:rPr>
              <a:t>Software Engineering · Cloud Engineering · Platform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C9E0E4"/>
                </a:solidFill>
              </a:rPr>
              <a:t>· Workplace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67866" y="787400"/>
            <a:ext cx="3234266" cy="558800"/>
          </a:xfrm>
          <a:prstGeom prst="roundRect">
            <a:avLst>
              <a:gd name="adj" fmla="val 9090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69466" y="850900"/>
            <a:ext cx="303106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1">
                <a:solidFill>
                  <a:srgbClr val="FFFFFF"/>
                </a:solidFill>
              </a:rPr>
              <a:t>Data, AI &amp; Engagement  (DA&amp;E)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DCD4F2"/>
                </a:solidFill>
              </a:rPr>
              <a:t>Data Management · Data Platform · AI · 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03733" y="787400"/>
            <a:ext cx="3234266" cy="558800"/>
          </a:xfrm>
          <a:prstGeom prst="roundRect">
            <a:avLst>
              <a:gd name="adj" fmla="val 9090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05333" y="850900"/>
            <a:ext cx="303106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1">
                <a:solidFill>
                  <a:srgbClr val="FFFFFF"/>
                </a:solidFill>
              </a:rPr>
              <a:t>Security &amp; Technology Transformation  (S&amp;TT)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EBCED8"/>
                </a:solidFill>
              </a:rPr>
              <a:t>Transformation · Adoption ·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000" y="1422400"/>
            <a:ext cx="1676400" cy="929562"/>
          </a:xfrm>
          <a:prstGeom prst="roundRect">
            <a:avLst>
              <a:gd name="adj" fmla="val 5464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81000" y="1524000"/>
            <a:ext cx="1422400" cy="726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72"/>
              </a:lnSpc>
            </a:pPr>
            <a:r>
              <a:rPr sz="1150" b="1">
                <a:solidFill>
                  <a:srgbClr val="212529"/>
                </a:solidFill>
              </a:rPr>
              <a:t>Platform Engineering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32000" y="1422400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133600" y="1498600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133600" y="1498600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247900" y="1549400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Platform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Builds and runs the developer platform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600" y="1936496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2133600" y="1936496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247900" y="1987296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Software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Builds and maintains applications on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67866" y="1422400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469466" y="1498600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469466" y="1498600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583766" y="1549400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Automation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Automation building blocks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03733" y="1422400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805333" y="1498600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F1EDFD"/>
          </a:solidFill>
          <a:ln w="9525">
            <a:solidFill>
              <a:srgbClr val="BFAD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805333" y="1498600"/>
            <a:ext cx="44450" cy="374396"/>
          </a:xfrm>
          <a:prstGeom prst="roundRect">
            <a:avLst>
              <a:gd name="adj" fmla="val 28571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919633" y="1549400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7048E8"/>
                </a:solidFill>
              </a:rPr>
              <a:t>Adoption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Onboarding of teams onto the platform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4000" y="2428162"/>
            <a:ext cx="1676400" cy="1351512"/>
          </a:xfrm>
          <a:prstGeom prst="roundRect">
            <a:avLst>
              <a:gd name="adj" fmla="val 3758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2529762"/>
            <a:ext cx="1422400" cy="1148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72"/>
              </a:lnSpc>
            </a:pPr>
            <a:r>
              <a:rPr sz="1150" b="1">
                <a:solidFill>
                  <a:srgbClr val="212529"/>
                </a:solidFill>
              </a:rPr>
              <a:t>AI SDLC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32000" y="2428162"/>
            <a:ext cx="3234266" cy="1351512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133600" y="2504362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2133600" y="2504362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247900" y="2555162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Cloud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Delivers the cloud platform the AI SDLC runs 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33600" y="2942258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2133600" y="2942258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247900" y="2993058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Platform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Pipelines, tooling and golden paths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3600" y="3380154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2133600" y="3380154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247900" y="3430954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Software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Uses the AI SDLC and platform to build and maintain applications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67866" y="2428162"/>
            <a:ext cx="3234266" cy="1351512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5469466" y="2504362"/>
            <a:ext cx="3031066" cy="496316"/>
          </a:xfrm>
          <a:prstGeom prst="roundRect">
            <a:avLst>
              <a:gd name="adj" fmla="val 7676"/>
            </a:avLst>
          </a:prstGeom>
          <a:solidFill>
            <a:srgbClr val="E8F2FB"/>
          </a:solidFill>
          <a:ln w="9525">
            <a:solidFill>
              <a:srgbClr val="99C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5469466" y="2504362"/>
            <a:ext cx="44450" cy="49631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83766" y="2555162"/>
            <a:ext cx="2827866" cy="394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AI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Engineers who build agents, guardrails, MCP integration and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flows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03733" y="2428162"/>
            <a:ext cx="3234266" cy="1351512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8805333" y="2504362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F1EDFD"/>
          </a:solidFill>
          <a:ln w="9525">
            <a:solidFill>
              <a:srgbClr val="BFA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8805333" y="2504362"/>
            <a:ext cx="44450" cy="374396"/>
          </a:xfrm>
          <a:prstGeom prst="roundRect">
            <a:avLst>
              <a:gd name="adj" fmla="val 28571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919633" y="2555162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7048E8"/>
                </a:solidFill>
              </a:rPr>
              <a:t>Adoption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Drives adoption and enablement across teams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05333" y="2942258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FDEEE7"/>
          </a:solidFill>
          <a:ln w="9525">
            <a:solidFill>
              <a:srgbClr val="F5B49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8805333" y="2942258"/>
            <a:ext cx="44450" cy="374396"/>
          </a:xfrm>
          <a:prstGeom prst="roundRect">
            <a:avLst>
              <a:gd name="adj" fmla="val 28571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919633" y="2993058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E8590C"/>
                </a:solidFill>
              </a:rPr>
              <a:t>Security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Security requirements behind the guardrails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54000" y="3855874"/>
            <a:ext cx="1676400" cy="929562"/>
          </a:xfrm>
          <a:prstGeom prst="roundRect">
            <a:avLst>
              <a:gd name="adj" fmla="val 5464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81000" y="3957474"/>
            <a:ext cx="1422400" cy="726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72"/>
              </a:lnSpc>
            </a:pPr>
            <a:r>
              <a:rPr sz="1150" b="1">
                <a:solidFill>
                  <a:srgbClr val="212529"/>
                </a:solidFill>
              </a:rPr>
              <a:t>Observability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32000" y="3855874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2133600" y="3932074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2133600" y="3932074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2247900" y="3982874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Platform Engineering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Telemetry pipeline and tooling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33600" y="4369970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2133600" y="4369970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2247900" y="4420770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Software Engineering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Instruments applications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67866" y="3855874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5469466" y="3932074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5469466" y="3932074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583766" y="3982874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Data Platform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Stores and analyses the telemetry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03733" y="3855874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8805333" y="3932074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8805333" y="3932074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919633" y="3982874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Security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Consumes signals for security monitoring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54000" y="4861637"/>
            <a:ext cx="1676400" cy="929562"/>
          </a:xfrm>
          <a:prstGeom prst="roundRect">
            <a:avLst>
              <a:gd name="adj" fmla="val 5464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381000" y="4963237"/>
            <a:ext cx="1422400" cy="726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72"/>
              </a:lnSpc>
            </a:pPr>
            <a:r>
              <a:rPr sz="1150" b="1">
                <a:solidFill>
                  <a:srgbClr val="212529"/>
                </a:solidFill>
              </a:rPr>
              <a:t>Cloud Landingzone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32000" y="4861637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2133600" y="4937837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2133600" y="4937837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247900" y="4988637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Cloud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Builds and maintains the landing zone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133600" y="5375733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2133600" y="5375733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2247900" y="5426533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Platform Engineering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The platform runs inside it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367866" y="4861637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5469466" y="4937837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5469466" y="4937837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5583766" y="4988637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Data Platform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Data platform lands in it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703733" y="4861637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8805333" y="4937837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FDEEE7"/>
          </a:solidFill>
          <a:ln w="9525">
            <a:solidFill>
              <a:srgbClr val="F5B49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8805333" y="4937837"/>
            <a:ext cx="44450" cy="374396"/>
          </a:xfrm>
          <a:prstGeom prst="roundRect">
            <a:avLst>
              <a:gd name="adj" fmla="val 28571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8919633" y="4988637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E8590C"/>
                </a:solidFill>
              </a:rPr>
              <a:t>Security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Security baseline, policies and controls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4000" y="5803900"/>
            <a:ext cx="381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868E96"/>
                </a:solidFill>
              </a:rPr>
              <a:t>How it fits together</a:t>
            </a:r>
          </a:p>
        </p:txBody>
      </p:sp>
      <p:sp>
        <p:nvSpPr>
          <p:cNvPr id="94" name="Chevron 93"/>
          <p:cNvSpPr/>
          <p:nvPr/>
        </p:nvSpPr>
        <p:spPr>
          <a:xfrm>
            <a:off x="254000" y="5969000"/>
            <a:ext cx="2870200" cy="635000"/>
          </a:xfrm>
          <a:prstGeom prst="chevron">
            <a:avLst>
              <a:gd name="adj" fmla="val 22000"/>
            </a:avLst>
          </a:prstGeom>
          <a:solidFill>
            <a:srgbClr val="E2EEF0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1300" rIns="0" tIns="0" bIns="0"/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0B7285"/>
                </a:solidFill>
              </a:rPr>
              <a:t>C&amp;D</a:t>
            </a:r>
          </a:p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Cloud platform &amp; landing zone</a:t>
            </a:r>
          </a:p>
        </p:txBody>
      </p:sp>
      <p:sp>
        <p:nvSpPr>
          <p:cNvPr id="95" name="Chevron 94"/>
          <p:cNvSpPr/>
          <p:nvPr/>
        </p:nvSpPr>
        <p:spPr>
          <a:xfrm>
            <a:off x="3175000" y="5969000"/>
            <a:ext cx="2870200" cy="635000"/>
          </a:xfrm>
          <a:prstGeom prst="chevron">
            <a:avLst>
              <a:gd name="adj" fmla="val 22000"/>
            </a:avLst>
          </a:prstGeom>
          <a:solidFill>
            <a:srgbClr val="ECE8F8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1300" rIns="0" tIns="0" bIns="0"/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5F3DC4"/>
                </a:solidFill>
              </a:rPr>
              <a:t>DA&amp;E</a:t>
            </a:r>
          </a:p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Agents, guardrails, MCP, flows</a:t>
            </a:r>
          </a:p>
        </p:txBody>
      </p:sp>
      <p:sp>
        <p:nvSpPr>
          <p:cNvPr id="96" name="Chevron 95"/>
          <p:cNvSpPr/>
          <p:nvPr/>
        </p:nvSpPr>
        <p:spPr>
          <a:xfrm>
            <a:off x="6096000" y="5969000"/>
            <a:ext cx="2870200" cy="635000"/>
          </a:xfrm>
          <a:prstGeom prst="chevron">
            <a:avLst>
              <a:gd name="adj" fmla="val 22000"/>
            </a:avLst>
          </a:prstGeom>
          <a:solidFill>
            <a:srgbClr val="E2EEF0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1300" rIns="0" tIns="0" bIns="0"/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0B7285"/>
                </a:solidFill>
              </a:rPr>
              <a:t>C&amp;D</a:t>
            </a:r>
          </a:p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Software engineering builds &amp; maintains apps</a:t>
            </a:r>
          </a:p>
        </p:txBody>
      </p:sp>
      <p:sp>
        <p:nvSpPr>
          <p:cNvPr id="97" name="Chevron 96"/>
          <p:cNvSpPr/>
          <p:nvPr/>
        </p:nvSpPr>
        <p:spPr>
          <a:xfrm>
            <a:off x="9017000" y="5969000"/>
            <a:ext cx="2870200" cy="635000"/>
          </a:xfrm>
          <a:prstGeom prst="chevron">
            <a:avLst>
              <a:gd name="adj" fmla="val 22000"/>
            </a:avLst>
          </a:prstGeom>
          <a:solidFill>
            <a:srgbClr val="F4E4E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1300" rIns="0" tIns="0" bIns="0"/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A61E4D"/>
                </a:solidFill>
              </a:rPr>
              <a:t>S&amp;TT</a:t>
            </a:r>
          </a:p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Adoption, transformation &amp;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