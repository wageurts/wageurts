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1343640" y="279400"/>
            <a:ext cx="114300" cy="114300"/>
          </a:xfrm>
          <a:prstGeom prst="roundRect">
            <a:avLst>
              <a:gd name="adj" fmla="val 22222"/>
            </a:avLst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508740" y="254000"/>
            <a:ext cx="467359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S&amp;TT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49280" y="279400"/>
            <a:ext cx="114300" cy="114300"/>
          </a:xfrm>
          <a:prstGeom prst="roundRect">
            <a:avLst>
              <a:gd name="adj" fmla="val 22222"/>
            </a:avLst>
          </a:prstGeom>
          <a:solidFill>
            <a:srgbClr val="5F3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914380" y="254000"/>
            <a:ext cx="467359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DA&amp;E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20960" y="279400"/>
            <a:ext cx="114300" cy="114300"/>
          </a:xfrm>
          <a:prstGeom prst="roundRect">
            <a:avLst>
              <a:gd name="adj" fmla="val 22222"/>
            </a:avLst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386060" y="254000"/>
            <a:ext cx="40132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C&amp;D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000" y="177800"/>
            <a:ext cx="971296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212529"/>
                </a:solidFill>
              </a:rPr>
              <a:t>How it fits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000" y="469900"/>
            <a:ext cx="79756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900" b="0">
                <a:solidFill>
                  <a:srgbClr val="868E96"/>
                </a:solidFill>
              </a:rPr>
              <a:t>Software engineering uses both · everything runs on the landing zone · observability and security cut across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000" y="812800"/>
            <a:ext cx="6680200" cy="584200"/>
          </a:xfrm>
          <a:prstGeom prst="roundRect">
            <a:avLst>
              <a:gd name="adj" fmla="val 10869"/>
            </a:avLst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1000" y="901700"/>
            <a:ext cx="6426200" cy="406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8"/>
              </a:lnSpc>
            </a:pPr>
            <a:r>
              <a:rPr sz="1100" b="1">
                <a:solidFill>
                  <a:srgbClr val="FFFFFF"/>
                </a:solidFill>
              </a:rPr>
              <a:t>Software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CEE3E7"/>
                </a:solidFill>
              </a:rPr>
              <a:t>Builds and maintains the applications — uses both the platform and the AI SDLC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832356" y="1473200"/>
            <a:ext cx="228600" cy="304800"/>
          </a:xfrm>
          <a:prstGeom prst="downArrow">
            <a:avLst/>
          </a:prstGeom>
          <a:solidFill>
            <a:srgbClr val="91C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99056" y="1536700"/>
            <a:ext cx="762000" cy="177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960"/>
              </a:lnSpc>
            </a:pPr>
            <a:r>
              <a:rPr sz="750" b="0">
                <a:solidFill>
                  <a:srgbClr val="868E96"/>
                </a:solidFill>
              </a:rPr>
              <a:t>uses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528056" y="1473200"/>
            <a:ext cx="228600" cy="304800"/>
          </a:xfrm>
          <a:prstGeom prst="downArrow">
            <a:avLst/>
          </a:prstGeom>
          <a:solidFill>
            <a:srgbClr val="91C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794756" y="1536700"/>
            <a:ext cx="762000" cy="177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960"/>
              </a:lnSpc>
            </a:pPr>
            <a:r>
              <a:rPr sz="750" b="0">
                <a:solidFill>
                  <a:srgbClr val="868E96"/>
                </a:solidFill>
              </a:rPr>
              <a:t>uses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4000" y="1854200"/>
            <a:ext cx="3385312" cy="2844800"/>
          </a:xfrm>
          <a:prstGeom prst="roundRect">
            <a:avLst>
              <a:gd name="adj" fmla="val 2232"/>
            </a:avLst>
          </a:prstGeom>
          <a:solidFill>
            <a:srgbClr val="EEF5F6"/>
          </a:solidFill>
          <a:ln w="9525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1000" y="1943100"/>
            <a:ext cx="3131312" cy="266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6"/>
              </a:lnSpc>
            </a:pPr>
            <a:r>
              <a:rPr sz="1200" b="1">
                <a:solidFill>
                  <a:srgbClr val="0B7285"/>
                </a:solidFill>
              </a:rPr>
              <a:t>Platform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1000" y="2641600"/>
            <a:ext cx="1514856" cy="7366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2600" y="2641600"/>
            <a:ext cx="1311656" cy="736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Containers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97456" y="2641600"/>
            <a:ext cx="1514856" cy="7366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99056" y="2641600"/>
            <a:ext cx="1311656" cy="736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Version control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1000" y="3479800"/>
            <a:ext cx="1514856" cy="7366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2600" y="3479800"/>
            <a:ext cx="1311656" cy="736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Pipelines &amp; CI/CD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97456" y="3479800"/>
            <a:ext cx="1514856" cy="7366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099056" y="3479800"/>
            <a:ext cx="1311656" cy="736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Reporting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0512" y="1854200"/>
            <a:ext cx="2583688" cy="2844800"/>
          </a:xfrm>
          <a:prstGeom prst="roundRect">
            <a:avLst>
              <a:gd name="adj" fmla="val 2457"/>
            </a:avLst>
          </a:prstGeom>
          <a:solidFill>
            <a:srgbClr val="EEF5F6"/>
          </a:solidFill>
          <a:ln w="9525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77512" y="1943100"/>
            <a:ext cx="2329688" cy="266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6"/>
              </a:lnSpc>
            </a:pPr>
            <a:r>
              <a:rPr sz="1200" b="1">
                <a:solidFill>
                  <a:srgbClr val="0B7285"/>
                </a:solidFill>
              </a:rPr>
              <a:t>AI SDLC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77512" y="2286000"/>
            <a:ext cx="2329688" cy="37592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9112" y="2286000"/>
            <a:ext cx="2126488" cy="375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Agents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77512" y="2763520"/>
            <a:ext cx="2329688" cy="37592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9112" y="2763520"/>
            <a:ext cx="2126488" cy="375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Flows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7512" y="3241040"/>
            <a:ext cx="2329688" cy="37592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79112" y="3241040"/>
            <a:ext cx="2126488" cy="375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Skills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77512" y="3718560"/>
            <a:ext cx="2329688" cy="37592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79112" y="3718560"/>
            <a:ext cx="2126488" cy="375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MCP integration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77512" y="4196080"/>
            <a:ext cx="2329688" cy="37592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9525">
            <a:solidFill>
              <a:srgbClr val="79B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9112" y="4196080"/>
            <a:ext cx="2126488" cy="375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Guardrails</a:t>
            </a:r>
          </a:p>
        </p:txBody>
      </p:sp>
      <p:sp>
        <p:nvSpPr>
          <p:cNvPr id="38" name="Left-Right Arrow 37"/>
          <p:cNvSpPr/>
          <p:nvPr/>
        </p:nvSpPr>
        <p:spPr>
          <a:xfrm>
            <a:off x="3766312" y="3136900"/>
            <a:ext cx="457200" cy="279400"/>
          </a:xfrm>
          <a:prstGeom prst="leftRightArrow">
            <a:avLst/>
          </a:prstGeom>
          <a:solidFill>
            <a:srgbClr val="C1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639312" y="3454400"/>
            <a:ext cx="711200" cy="279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96"/>
              </a:lnSpc>
            </a:pPr>
            <a:r>
              <a:rPr sz="700" b="0">
                <a:solidFill>
                  <a:srgbClr val="868E96"/>
                </a:solidFill>
              </a:rPr>
              <a:t>integrates with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3479800" y="4724400"/>
            <a:ext cx="228600" cy="254000"/>
          </a:xfrm>
          <a:prstGeom prst="downArrow">
            <a:avLst/>
          </a:prstGeom>
          <a:solidFill>
            <a:srgbClr val="91C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746500" y="4762500"/>
            <a:ext cx="889000" cy="177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960"/>
              </a:lnSpc>
            </a:pPr>
            <a:r>
              <a:rPr sz="750" b="0">
                <a:solidFill>
                  <a:srgbClr val="868E96"/>
                </a:solidFill>
              </a:rPr>
              <a:t>deploys 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54000" y="5029200"/>
            <a:ext cx="6680200" cy="558800"/>
          </a:xfrm>
          <a:prstGeom prst="roundRect">
            <a:avLst>
              <a:gd name="adj" fmla="val 11363"/>
            </a:avLst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1000" y="5118100"/>
            <a:ext cx="64262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8"/>
              </a:lnSpc>
            </a:pPr>
            <a:r>
              <a:rPr sz="1100" b="1">
                <a:solidFill>
                  <a:srgbClr val="FFFFFF"/>
                </a:solidFill>
              </a:rPr>
              <a:t>Cloud Landingzone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CEE3E7"/>
                </a:solidFill>
              </a:rPr>
              <a:t>Everything is deployed on it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86600" y="812800"/>
            <a:ext cx="990600" cy="4775200"/>
          </a:xfrm>
          <a:prstGeom prst="roundRect">
            <a:avLst>
              <a:gd name="adj" fmla="val 6410"/>
            </a:avLst>
          </a:prstGeom>
          <a:solidFill>
            <a:srgbClr val="EBF4F5"/>
          </a:solidFill>
          <a:ln w="9525">
            <a:solidFill>
              <a:srgbClr val="0B72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88200" y="914400"/>
            <a:ext cx="787400" cy="152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6"/>
              </a:lnSpc>
            </a:pPr>
            <a:r>
              <a:rPr sz="950" b="1">
                <a:solidFill>
                  <a:srgbClr val="0B7285"/>
                </a:solidFill>
              </a:rPr>
              <a:t>Observability</a:t>
            </a:r>
          </a:p>
          <a:p>
            <a:pPr algn="l">
              <a:lnSpc>
                <a:spcPts val="896"/>
              </a:lnSpc>
            </a:pPr>
            <a:r>
              <a:rPr sz="700" b="0">
                <a:solidFill>
                  <a:srgbClr val="212529"/>
                </a:solidFill>
              </a:rPr>
              <a:t>Monitors the AI</a:t>
            </a:r>
          </a:p>
          <a:p>
            <a:pPr algn="l">
              <a:lnSpc>
                <a:spcPts val="896"/>
              </a:lnSpc>
            </a:pPr>
            <a:r>
              <a:rPr sz="700" b="0">
                <a:solidFill>
                  <a:srgbClr val="212529"/>
                </a:solidFill>
              </a:rPr>
              <a:t>SDLC, the platform</a:t>
            </a:r>
          </a:p>
          <a:p>
            <a:pPr algn="l">
              <a:lnSpc>
                <a:spcPts val="896"/>
              </a:lnSpc>
            </a:pPr>
            <a:r>
              <a:rPr sz="700" b="0">
                <a:solidFill>
                  <a:srgbClr val="212529"/>
                </a:solidFill>
              </a:rPr>
              <a:t>and the cloud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54000" y="5715000"/>
            <a:ext cx="7823200" cy="508000"/>
          </a:xfrm>
          <a:prstGeom prst="roundRect">
            <a:avLst>
              <a:gd name="adj" fmla="val 12500"/>
            </a:avLst>
          </a:prstGeom>
          <a:solidFill>
            <a:srgbClr val="F8EDF1"/>
          </a:solidFill>
          <a:ln w="9525">
            <a:solidFill>
              <a:srgbClr val="A61E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06400" y="5791200"/>
            <a:ext cx="7518400" cy="355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6"/>
              </a:lnSpc>
            </a:pPr>
            <a:r>
              <a:rPr sz="950" b="1">
                <a:solidFill>
                  <a:srgbClr val="A61E4D"/>
                </a:solidFill>
              </a:rPr>
              <a:t>Security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Governs every layer — policies, controls and the requirements behind the guardrails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0" y="812800"/>
            <a:ext cx="3708400" cy="5791200"/>
          </a:xfrm>
          <a:prstGeom prst="roundRect">
            <a:avLst>
              <a:gd name="adj" fmla="val 1712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382000" y="914400"/>
            <a:ext cx="340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0"/>
              </a:lnSpc>
            </a:pPr>
            <a:r>
              <a:rPr sz="1000" b="1">
                <a:solidFill>
                  <a:srgbClr val="212529"/>
                </a:solidFill>
              </a:rPr>
              <a:t>Responsibilities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0" y="1092200"/>
            <a:ext cx="34036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60"/>
              </a:lnSpc>
            </a:pPr>
            <a:r>
              <a:rPr sz="750" b="0">
                <a:solidFill>
                  <a:srgbClr val="868E96"/>
                </a:solidFill>
              </a:rPr>
              <a:t>who builds it, who uses it, who governs it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1270000"/>
            <a:ext cx="34036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212529"/>
                </a:solidFill>
              </a:rPr>
              <a:t>Platform Engineering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07400" y="144780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509000" y="143510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C&amp;D · Platform Engineering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Builds and runs the developer platform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407400" y="168148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509000" y="166878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0CA678"/>
                </a:solidFill>
              </a:rPr>
              <a:t>C&amp;D · Software Engineering — uses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Builds and maintains applications on 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7400" y="191516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509000" y="190246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DA&amp;E · Automation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Automation building blocks (assumed)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07400" y="214884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704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509000" y="213614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7048E8"/>
                </a:solidFill>
              </a:rPr>
              <a:t>S&amp;TT · Adoption — drives adoption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Onboarding of teams onto the platform (assumed)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2401570"/>
            <a:ext cx="34036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212529"/>
                </a:solidFill>
              </a:rPr>
              <a:t>AI SDLC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07400" y="257937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509000" y="256667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C&amp;D · Cloud Engineering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Delivers the cloud platform the AI SDLC runs 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407400" y="281305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509000" y="280035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C&amp;D · Platform Engineering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Pipelines, tooling and golden paths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07400" y="304673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509000" y="303403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0CA678"/>
                </a:solidFill>
              </a:rPr>
              <a:t>C&amp;D · Software Engineering — uses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Uses the AI SDLC and platform to build and maintain applications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07400" y="328041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509000" y="326771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DA&amp;E · AI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Engineers who build agents, guardrails, MCP integration and flows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07400" y="3514090"/>
            <a:ext cx="31750" cy="189230"/>
          </a:xfrm>
          <a:prstGeom prst="roundRect">
            <a:avLst>
              <a:gd name="adj" fmla="val 40000"/>
            </a:avLst>
          </a:prstGeom>
          <a:solidFill>
            <a:srgbClr val="704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509000" y="3501390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7048E8"/>
                </a:solidFill>
              </a:rPr>
              <a:t>S&amp;TT · Adoption — drives adoption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Drives adoption and enablement across teams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07400" y="374776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509000" y="373506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E8590C"/>
                </a:solidFill>
              </a:rPr>
              <a:t>S&amp;TT · Security — governs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Security requirements behind the guardrails (assumed)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82000" y="4000499"/>
            <a:ext cx="34036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212529"/>
                </a:solidFill>
              </a:rPr>
              <a:t>Observability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07400" y="417829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509000" y="416559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C&amp;D · Platform Engineering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Telemetry pipeline and tooling (assumed)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07400" y="441197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509000" y="439927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0CA678"/>
                </a:solidFill>
              </a:rPr>
              <a:t>C&amp;D · Software Engineering — uses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Instruments applications (assumed)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407400" y="464565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8509000" y="463295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DA&amp;E · Data Platform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Stores and analyses the telemetry (assumed)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07400" y="487933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8509000" y="486663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0CA678"/>
                </a:solidFill>
              </a:rPr>
              <a:t>S&amp;TT · Security — uses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Consumes signals for security monitoring (assumed)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82000" y="5132069"/>
            <a:ext cx="34036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212529"/>
                </a:solidFill>
              </a:rPr>
              <a:t>Cloud Landingzone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07400" y="530986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8509000" y="529716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1C7ED6"/>
                </a:solidFill>
              </a:rPr>
              <a:t>C&amp;D · Cloud Engineering — builds &amp; delivers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Builds and maintains the landing zone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07400" y="554354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8509000" y="553084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0CA678"/>
                </a:solidFill>
              </a:rPr>
              <a:t>C&amp;D · Platform Engineering — uses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The platform runs inside it (assumed)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407400" y="577722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8509000" y="576452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0CA678"/>
                </a:solidFill>
              </a:rPr>
              <a:t>DA&amp;E · Data Platform — uses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Data platform lands in it (assumed)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407400" y="6010909"/>
            <a:ext cx="31750" cy="189230"/>
          </a:xfrm>
          <a:prstGeom prst="roundRect">
            <a:avLst>
              <a:gd name="adj" fmla="val 4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509000" y="5998209"/>
            <a:ext cx="3149600" cy="2146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32"/>
              </a:lnSpc>
            </a:pPr>
            <a:r>
              <a:rPr sz="650" b="1">
                <a:solidFill>
                  <a:srgbClr val="E8590C"/>
                </a:solidFill>
              </a:rPr>
              <a:t>S&amp;TT · Security — governs</a:t>
            </a:r>
          </a:p>
          <a:p>
            <a:pPr algn="l">
              <a:lnSpc>
                <a:spcPts val="832"/>
              </a:lnSpc>
            </a:pPr>
            <a:r>
              <a:rPr sz="650" b="0">
                <a:solidFill>
                  <a:srgbClr val="868E96"/>
                </a:solidFill>
              </a:rPr>
              <a:t>Security baseline, policies and controls (assumed)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69600" y="279400"/>
            <a:ext cx="114300" cy="114300"/>
          </a:xfrm>
          <a:prstGeom prst="roundRect">
            <a:avLst>
              <a:gd name="adj" fmla="val 22222"/>
            </a:avLst>
          </a:prstGeom>
          <a:solidFill>
            <a:srgbClr val="704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34700" y="254000"/>
            <a:ext cx="104140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Drives adoption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48240" y="279400"/>
            <a:ext cx="114300" cy="114300"/>
          </a:xfrm>
          <a:prstGeom prst="roundRect">
            <a:avLst>
              <a:gd name="adj" fmla="val 22222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13340" y="254000"/>
            <a:ext cx="59436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Governs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94520" y="279400"/>
            <a:ext cx="114300" cy="114300"/>
          </a:xfrm>
          <a:prstGeom prst="roundRect">
            <a:avLst>
              <a:gd name="adj" fmla="val 22222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659620" y="254000"/>
            <a:ext cx="42672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Uses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14359" y="279400"/>
            <a:ext cx="114300" cy="114300"/>
          </a:xfrm>
          <a:prstGeom prst="roundRect">
            <a:avLst>
              <a:gd name="adj" fmla="val 22222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79459" y="254000"/>
            <a:ext cx="1153160" cy="165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Builds &amp; delivers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000" y="177800"/>
            <a:ext cx="7706359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4"/>
              </a:lnSpc>
            </a:pPr>
            <a:r>
              <a:rPr sz="1800" b="1">
                <a:solidFill>
                  <a:srgbClr val="212529"/>
                </a:solidFill>
              </a:rPr>
              <a:t>Portfolio overview — who does what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000" y="469900"/>
            <a:ext cx="11684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6"/>
              </a:lnSpc>
            </a:pPr>
            <a:r>
              <a:rPr sz="950" b="0">
                <a:solidFill>
                  <a:srgbClr val="868E96"/>
                </a:solidFill>
              </a:rPr>
              <a:t>Rows are propositions · columns are divisions · colour is the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000" y="939800"/>
            <a:ext cx="16764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900" b="1">
                <a:solidFill>
                  <a:srgbClr val="868E96"/>
                </a:solidFill>
              </a:rPr>
              <a:t>Propositions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32000" y="787400"/>
            <a:ext cx="3234266" cy="558800"/>
          </a:xfrm>
          <a:prstGeom prst="roundRect">
            <a:avLst>
              <a:gd name="adj" fmla="val 9090"/>
            </a:avLst>
          </a:prstGeom>
          <a:solidFill>
            <a:srgbClr val="0B7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133600" y="850900"/>
            <a:ext cx="3031066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4"/>
              </a:lnSpc>
            </a:pPr>
            <a:r>
              <a:rPr sz="1050" b="1">
                <a:solidFill>
                  <a:srgbClr val="FFFFFF"/>
                </a:solidFill>
              </a:rPr>
              <a:t>Cloud &amp; Development  (C&amp;D)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C9E0E4"/>
                </a:solidFill>
              </a:rPr>
              <a:t>Software Engineering · Cloud Engineering · Platform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C9E0E4"/>
                </a:solidFill>
              </a:rPr>
              <a:t>· Workplace Management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7866" y="787400"/>
            <a:ext cx="3234266" cy="558800"/>
          </a:xfrm>
          <a:prstGeom prst="roundRect">
            <a:avLst>
              <a:gd name="adj" fmla="val 9090"/>
            </a:avLst>
          </a:prstGeom>
          <a:solidFill>
            <a:srgbClr val="5F3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69466" y="850900"/>
            <a:ext cx="3031066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4"/>
              </a:lnSpc>
            </a:pPr>
            <a:r>
              <a:rPr sz="1050" b="1">
                <a:solidFill>
                  <a:srgbClr val="FFFFFF"/>
                </a:solidFill>
              </a:rPr>
              <a:t>Data, AI &amp; Engagement  (DA&amp;E)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DCD4F2"/>
                </a:solidFill>
              </a:rPr>
              <a:t>Data Management · Data Platform · AI · Automation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03733" y="787400"/>
            <a:ext cx="3234266" cy="558800"/>
          </a:xfrm>
          <a:prstGeom prst="roundRect">
            <a:avLst>
              <a:gd name="adj" fmla="val 9090"/>
            </a:avLst>
          </a:prstGeom>
          <a:solidFill>
            <a:srgbClr val="A61E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05333" y="850900"/>
            <a:ext cx="3031066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4"/>
              </a:lnSpc>
            </a:pPr>
            <a:r>
              <a:rPr sz="1050" b="1">
                <a:solidFill>
                  <a:srgbClr val="FFFFFF"/>
                </a:solidFill>
              </a:rPr>
              <a:t>Security &amp; Technology Transformation  (S&amp;TT)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EBCED8"/>
                </a:solidFill>
              </a:rPr>
              <a:t>Transformation · Adoption · Security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4000" y="1422400"/>
            <a:ext cx="1676400" cy="929562"/>
          </a:xfrm>
          <a:prstGeom prst="roundRect">
            <a:avLst>
              <a:gd name="adj" fmla="val 5464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81000" y="1524000"/>
            <a:ext cx="1422400" cy="726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72"/>
              </a:lnSpc>
            </a:pPr>
            <a:r>
              <a:rPr sz="1150" b="1">
                <a:solidFill>
                  <a:srgbClr val="212529"/>
                </a:solidFill>
              </a:rPr>
              <a:t>Platform Engineering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32000" y="1422400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2133600" y="1498600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8F2FB"/>
          </a:solidFill>
          <a:ln w="9525">
            <a:solidFill>
              <a:srgbClr val="99C5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2133600" y="1498600"/>
            <a:ext cx="44450" cy="37439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247900" y="1549400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Platform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Builds and runs the developer platform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3600" y="1936496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7F6F2"/>
          </a:solidFill>
          <a:ln w="9525">
            <a:solidFill>
              <a:srgbClr val="92D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2133600" y="1936496"/>
            <a:ext cx="44450" cy="374396"/>
          </a:xfrm>
          <a:prstGeom prst="roundRect">
            <a:avLst>
              <a:gd name="adj" fmla="val 28571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247900" y="1987296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0CA678"/>
                </a:solidFill>
              </a:rPr>
              <a:t>Software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Builds and maintains applications on 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67866" y="1422400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469466" y="1498600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8F2FB"/>
          </a:solidFill>
          <a:ln w="9525">
            <a:solidFill>
              <a:srgbClr val="99C5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69466" y="1498600"/>
            <a:ext cx="44450" cy="37439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583766" y="1549400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Automation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Automation building blocks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03733" y="1422400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805333" y="1498600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F1EDFD"/>
          </a:solidFill>
          <a:ln w="9525">
            <a:solidFill>
              <a:srgbClr val="BFADF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8805333" y="1498600"/>
            <a:ext cx="44450" cy="374396"/>
          </a:xfrm>
          <a:prstGeom prst="roundRect">
            <a:avLst>
              <a:gd name="adj" fmla="val 28571"/>
            </a:avLst>
          </a:prstGeom>
          <a:solidFill>
            <a:srgbClr val="704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19633" y="1549400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7048E8"/>
                </a:solidFill>
              </a:rPr>
              <a:t>Adoption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Onboarding of teams onto the platform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4000" y="2428162"/>
            <a:ext cx="1676400" cy="1351512"/>
          </a:xfrm>
          <a:prstGeom prst="roundRect">
            <a:avLst>
              <a:gd name="adj" fmla="val 3758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81000" y="2529762"/>
            <a:ext cx="1422400" cy="1148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72"/>
              </a:lnSpc>
            </a:pPr>
            <a:r>
              <a:rPr sz="1150" b="1">
                <a:solidFill>
                  <a:srgbClr val="212529"/>
                </a:solidFill>
              </a:rPr>
              <a:t>AI SDLC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32000" y="2428162"/>
            <a:ext cx="3234266" cy="1351512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133600" y="2504362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8F2FB"/>
          </a:solidFill>
          <a:ln w="9525">
            <a:solidFill>
              <a:srgbClr val="99C5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2133600" y="2504362"/>
            <a:ext cx="44450" cy="37439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247900" y="2555162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Cloud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Delivers the cloud platform the AI SDLC runs 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33600" y="2942258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8F2FB"/>
          </a:solidFill>
          <a:ln w="9525">
            <a:solidFill>
              <a:srgbClr val="99C5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2133600" y="2942258"/>
            <a:ext cx="44450" cy="37439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2247900" y="2993058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Platform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Pipelines, tooling and golden paths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33600" y="3380154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7F6F2"/>
          </a:solidFill>
          <a:ln w="9525">
            <a:solidFill>
              <a:srgbClr val="92D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133600" y="3380154"/>
            <a:ext cx="44450" cy="374396"/>
          </a:xfrm>
          <a:prstGeom prst="roundRect">
            <a:avLst>
              <a:gd name="adj" fmla="val 28571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247900" y="3430954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0CA678"/>
                </a:solidFill>
              </a:rPr>
              <a:t>Software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Uses the AI SDLC and platform to build and maintain applications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67866" y="2428162"/>
            <a:ext cx="3234266" cy="1351512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5469466" y="2504362"/>
            <a:ext cx="3031066" cy="496316"/>
          </a:xfrm>
          <a:prstGeom prst="roundRect">
            <a:avLst>
              <a:gd name="adj" fmla="val 7676"/>
            </a:avLst>
          </a:prstGeom>
          <a:solidFill>
            <a:srgbClr val="E8F2FB"/>
          </a:solidFill>
          <a:ln w="9525">
            <a:solidFill>
              <a:srgbClr val="99C5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5469466" y="2504362"/>
            <a:ext cx="44450" cy="49631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583766" y="2555162"/>
            <a:ext cx="2827866" cy="394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AI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Engineers who build agents, guardrails, MCP integration and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flows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03733" y="2428162"/>
            <a:ext cx="3234266" cy="1351512"/>
          </a:xfrm>
          <a:prstGeom prst="roundRect">
            <a:avLst>
              <a:gd name="adj" fmla="val 3758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8805333" y="2504362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F1EDFD"/>
          </a:solidFill>
          <a:ln w="9525">
            <a:solidFill>
              <a:srgbClr val="BFAD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805333" y="2504362"/>
            <a:ext cx="44450" cy="374396"/>
          </a:xfrm>
          <a:prstGeom prst="roundRect">
            <a:avLst>
              <a:gd name="adj" fmla="val 28571"/>
            </a:avLst>
          </a:prstGeom>
          <a:solidFill>
            <a:srgbClr val="704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19633" y="2555162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7048E8"/>
                </a:solidFill>
              </a:rPr>
              <a:t>Adoption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Drives adoption and enablement across teams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805333" y="2942258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FDEEE7"/>
          </a:solidFill>
          <a:ln w="9525">
            <a:solidFill>
              <a:srgbClr val="F5B49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8805333" y="2942258"/>
            <a:ext cx="44450" cy="374396"/>
          </a:xfrm>
          <a:prstGeom prst="roundRect">
            <a:avLst>
              <a:gd name="adj" fmla="val 28571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919633" y="2993058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E8590C"/>
                </a:solidFill>
              </a:rPr>
              <a:t>Security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Security requirements behind the guardrails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4000" y="3855874"/>
            <a:ext cx="1676400" cy="929562"/>
          </a:xfrm>
          <a:prstGeom prst="roundRect">
            <a:avLst>
              <a:gd name="adj" fmla="val 5464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81000" y="3957474"/>
            <a:ext cx="1422400" cy="726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72"/>
              </a:lnSpc>
            </a:pPr>
            <a:r>
              <a:rPr sz="1150" b="1">
                <a:solidFill>
                  <a:srgbClr val="212529"/>
                </a:solidFill>
              </a:rPr>
              <a:t>Observability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32000" y="3855874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2133600" y="3932074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8F2FB"/>
          </a:solidFill>
          <a:ln w="9525">
            <a:solidFill>
              <a:srgbClr val="99C5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2133600" y="3932074"/>
            <a:ext cx="44450" cy="37439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247900" y="3982874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Platform Engineering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Telemetry pipeline and tooling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33600" y="4369970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7F6F2"/>
          </a:solidFill>
          <a:ln w="9525">
            <a:solidFill>
              <a:srgbClr val="92D7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2133600" y="4369970"/>
            <a:ext cx="44450" cy="374396"/>
          </a:xfrm>
          <a:prstGeom prst="roundRect">
            <a:avLst>
              <a:gd name="adj" fmla="val 28571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2247900" y="4420770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0CA678"/>
                </a:solidFill>
              </a:rPr>
              <a:t>Software Engineering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Instruments applications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67866" y="3855874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5469466" y="3932074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8F2FB"/>
          </a:solidFill>
          <a:ln w="9525">
            <a:solidFill>
              <a:srgbClr val="99C5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ounded Rectangle 69"/>
          <p:cNvSpPr/>
          <p:nvPr/>
        </p:nvSpPr>
        <p:spPr>
          <a:xfrm>
            <a:off x="5469466" y="3932074"/>
            <a:ext cx="44450" cy="37439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583766" y="3982874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Data Platform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Stores and analyses the telemetry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703733" y="3855874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ounded Rectangle 72"/>
          <p:cNvSpPr/>
          <p:nvPr/>
        </p:nvSpPr>
        <p:spPr>
          <a:xfrm>
            <a:off x="8805333" y="3932074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7F6F2"/>
          </a:solidFill>
          <a:ln w="9525">
            <a:solidFill>
              <a:srgbClr val="92D7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8805333" y="3932074"/>
            <a:ext cx="44450" cy="374396"/>
          </a:xfrm>
          <a:prstGeom prst="roundRect">
            <a:avLst>
              <a:gd name="adj" fmla="val 28571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919633" y="3982874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0CA678"/>
                </a:solidFill>
              </a:rPr>
              <a:t>Security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Consumes signals for security monitoring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54000" y="4861637"/>
            <a:ext cx="1676400" cy="929562"/>
          </a:xfrm>
          <a:prstGeom prst="roundRect">
            <a:avLst>
              <a:gd name="adj" fmla="val 5464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381000" y="4963237"/>
            <a:ext cx="1422400" cy="72636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ts val="1472"/>
              </a:lnSpc>
            </a:pPr>
            <a:r>
              <a:rPr sz="1150" b="1">
                <a:solidFill>
                  <a:srgbClr val="212529"/>
                </a:solidFill>
              </a:rPr>
              <a:t>Cloud Landingzone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032000" y="4861637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2133600" y="4937837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8F2FB"/>
          </a:solidFill>
          <a:ln w="9525">
            <a:solidFill>
              <a:srgbClr val="99C5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ounded Rectangle 79"/>
          <p:cNvSpPr/>
          <p:nvPr/>
        </p:nvSpPr>
        <p:spPr>
          <a:xfrm>
            <a:off x="2133600" y="4937837"/>
            <a:ext cx="44450" cy="374396"/>
          </a:xfrm>
          <a:prstGeom prst="roundRect">
            <a:avLst>
              <a:gd name="adj" fmla="val 28571"/>
            </a:avLst>
          </a:prstGeom>
          <a:solidFill>
            <a:srgbClr val="1C7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2247900" y="4988637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1C7ED6"/>
                </a:solidFill>
              </a:rPr>
              <a:t>Cloud Engineering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Builds and maintains the landing zone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133600" y="5375733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7F6F2"/>
          </a:solidFill>
          <a:ln w="9525">
            <a:solidFill>
              <a:srgbClr val="92D7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2133600" y="5375733"/>
            <a:ext cx="44450" cy="374396"/>
          </a:xfrm>
          <a:prstGeom prst="roundRect">
            <a:avLst>
              <a:gd name="adj" fmla="val 28571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2247900" y="5426533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0CA678"/>
                </a:solidFill>
              </a:rPr>
              <a:t>Platform Engineering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The platform runs inside it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367866" y="4861637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ounded Rectangle 85"/>
          <p:cNvSpPr/>
          <p:nvPr/>
        </p:nvSpPr>
        <p:spPr>
          <a:xfrm>
            <a:off x="5469466" y="4937837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E7F6F2"/>
          </a:solidFill>
          <a:ln w="9525">
            <a:solidFill>
              <a:srgbClr val="92D7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5469466" y="4937837"/>
            <a:ext cx="44450" cy="374396"/>
          </a:xfrm>
          <a:prstGeom prst="roundRect">
            <a:avLst>
              <a:gd name="adj" fmla="val 28571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5583766" y="4988637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0CA678"/>
                </a:solidFill>
              </a:rPr>
              <a:t>Data Platform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Data platform lands in it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703733" y="4861637"/>
            <a:ext cx="3234266" cy="929562"/>
          </a:xfrm>
          <a:prstGeom prst="roundRect">
            <a:avLst>
              <a:gd name="adj" fmla="val 5464"/>
            </a:avLst>
          </a:prstGeom>
          <a:solidFill>
            <a:srgbClr val="FFFFFF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8805333" y="4937837"/>
            <a:ext cx="3031066" cy="374396"/>
          </a:xfrm>
          <a:prstGeom prst="roundRect">
            <a:avLst>
              <a:gd name="adj" fmla="val 10176"/>
            </a:avLst>
          </a:prstGeom>
          <a:solidFill>
            <a:srgbClr val="FDEEE7"/>
          </a:solidFill>
          <a:ln w="9525">
            <a:solidFill>
              <a:srgbClr val="F5B49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8805333" y="4937837"/>
            <a:ext cx="44450" cy="374396"/>
          </a:xfrm>
          <a:prstGeom prst="roundRect">
            <a:avLst>
              <a:gd name="adj" fmla="val 28571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8919633" y="4988637"/>
            <a:ext cx="2827866" cy="2727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8"/>
              </a:lnSpc>
            </a:pPr>
            <a:r>
              <a:rPr sz="850" b="1">
                <a:solidFill>
                  <a:srgbClr val="E8590C"/>
                </a:solidFill>
              </a:rPr>
              <a:t>Security  (assumed)</a:t>
            </a:r>
          </a:p>
          <a:p>
            <a:pPr algn="l">
              <a:lnSpc>
                <a:spcPts val="960"/>
              </a:lnSpc>
            </a:pPr>
            <a:r>
              <a:rPr sz="750" b="0">
                <a:solidFill>
                  <a:srgbClr val="212529"/>
                </a:solidFill>
              </a:rPr>
              <a:t>Security baseline, policies and controls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4000" y="5803900"/>
            <a:ext cx="3810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2"/>
              </a:lnSpc>
            </a:pPr>
            <a:r>
              <a:rPr sz="900" b="1">
                <a:solidFill>
                  <a:srgbClr val="868E96"/>
                </a:solidFill>
              </a:rPr>
              <a:t>How it fits together</a:t>
            </a:r>
          </a:p>
        </p:txBody>
      </p:sp>
      <p:sp>
        <p:nvSpPr>
          <p:cNvPr id="94" name="Chevron 93"/>
          <p:cNvSpPr/>
          <p:nvPr/>
        </p:nvSpPr>
        <p:spPr>
          <a:xfrm>
            <a:off x="254000" y="5969000"/>
            <a:ext cx="2870200" cy="635000"/>
          </a:xfrm>
          <a:prstGeom prst="chevron">
            <a:avLst>
              <a:gd name="adj" fmla="val 22000"/>
            </a:avLst>
          </a:prstGeom>
          <a:solidFill>
            <a:srgbClr val="E2EEF0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1300" rIns="0" tIns="0" bIns="0"/>
          <a:lstStyle/>
          <a:p>
            <a:pPr algn="l">
              <a:lnSpc>
                <a:spcPts val="1152"/>
              </a:lnSpc>
            </a:pPr>
            <a:r>
              <a:rPr sz="900" b="1">
                <a:solidFill>
                  <a:srgbClr val="0B7285"/>
                </a:solidFill>
              </a:rPr>
              <a:t>C&amp;D</a:t>
            </a:r>
          </a:p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Cloud platform &amp; landing zone</a:t>
            </a:r>
          </a:p>
        </p:txBody>
      </p:sp>
      <p:sp>
        <p:nvSpPr>
          <p:cNvPr id="95" name="Chevron 94"/>
          <p:cNvSpPr/>
          <p:nvPr/>
        </p:nvSpPr>
        <p:spPr>
          <a:xfrm>
            <a:off x="3175000" y="5969000"/>
            <a:ext cx="2870200" cy="635000"/>
          </a:xfrm>
          <a:prstGeom prst="chevron">
            <a:avLst>
              <a:gd name="adj" fmla="val 22000"/>
            </a:avLst>
          </a:prstGeom>
          <a:solidFill>
            <a:srgbClr val="ECE8F8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1300" rIns="0" tIns="0" bIns="0"/>
          <a:lstStyle/>
          <a:p>
            <a:pPr algn="l">
              <a:lnSpc>
                <a:spcPts val="1152"/>
              </a:lnSpc>
            </a:pPr>
            <a:r>
              <a:rPr sz="900" b="1">
                <a:solidFill>
                  <a:srgbClr val="5F3DC4"/>
                </a:solidFill>
              </a:rPr>
              <a:t>DA&amp;E</a:t>
            </a:r>
          </a:p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Agents, guardrails, MCP, flows</a:t>
            </a:r>
          </a:p>
        </p:txBody>
      </p:sp>
      <p:sp>
        <p:nvSpPr>
          <p:cNvPr id="96" name="Chevron 95"/>
          <p:cNvSpPr/>
          <p:nvPr/>
        </p:nvSpPr>
        <p:spPr>
          <a:xfrm>
            <a:off x="6096000" y="5969000"/>
            <a:ext cx="2870200" cy="635000"/>
          </a:xfrm>
          <a:prstGeom prst="chevron">
            <a:avLst>
              <a:gd name="adj" fmla="val 22000"/>
            </a:avLst>
          </a:prstGeom>
          <a:solidFill>
            <a:srgbClr val="E2EEF0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1300" rIns="0" tIns="0" bIns="0"/>
          <a:lstStyle/>
          <a:p>
            <a:pPr algn="l">
              <a:lnSpc>
                <a:spcPts val="1152"/>
              </a:lnSpc>
            </a:pPr>
            <a:r>
              <a:rPr sz="900" b="1">
                <a:solidFill>
                  <a:srgbClr val="0B7285"/>
                </a:solidFill>
              </a:rPr>
              <a:t>C&amp;D</a:t>
            </a:r>
          </a:p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Software engineering builds &amp; maintains apps</a:t>
            </a:r>
          </a:p>
        </p:txBody>
      </p:sp>
      <p:sp>
        <p:nvSpPr>
          <p:cNvPr id="97" name="Chevron 96"/>
          <p:cNvSpPr/>
          <p:nvPr/>
        </p:nvSpPr>
        <p:spPr>
          <a:xfrm>
            <a:off x="9017000" y="5969000"/>
            <a:ext cx="2870200" cy="635000"/>
          </a:xfrm>
          <a:prstGeom prst="chevron">
            <a:avLst>
              <a:gd name="adj" fmla="val 22000"/>
            </a:avLst>
          </a:prstGeom>
          <a:solidFill>
            <a:srgbClr val="F4E4E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1300" rIns="0" tIns="0" bIns="0"/>
          <a:lstStyle/>
          <a:p>
            <a:pPr algn="l">
              <a:lnSpc>
                <a:spcPts val="1152"/>
              </a:lnSpc>
            </a:pPr>
            <a:r>
              <a:rPr sz="900" b="1">
                <a:solidFill>
                  <a:srgbClr val="A61E4D"/>
                </a:solidFill>
              </a:rPr>
              <a:t>S&amp;TT</a:t>
            </a:r>
          </a:p>
          <a:p>
            <a:pPr algn="l">
              <a:lnSpc>
                <a:spcPts val="1024"/>
              </a:lnSpc>
            </a:pPr>
            <a:r>
              <a:rPr sz="800" b="0">
                <a:solidFill>
                  <a:srgbClr val="212529"/>
                </a:solidFill>
              </a:rPr>
              <a:t>Adoption, transformation &amp;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