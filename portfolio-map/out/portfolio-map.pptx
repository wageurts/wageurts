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212529"/>
                </a:solidFill>
              </a:rPr>
              <a:t>AI SDLC — portfolio, responsibility &amp; dependency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868E96"/>
                </a:solidFill>
              </a:rPr>
              <a:t>One model, three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868E96"/>
                </a:solidFill>
              </a:rPr>
              <a:t>v0.1 · 2026-09-18 · generated from model.yaml — do not edit shapes by hand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572000"/>
            <a:ext cx="2011680" cy="640080"/>
          </a:xfrm>
          <a:prstGeom prst="roundRect">
            <a:avLst/>
          </a:prstGeom>
          <a:solidFill>
            <a:srgbClr val="4C6EF5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Platform Engineering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Platform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4572000"/>
            <a:ext cx="2011680" cy="640080"/>
          </a:xfrm>
          <a:prstGeom prst="roundRect">
            <a:avLst/>
          </a:prstGeom>
          <a:solidFill>
            <a:srgbClr val="7048E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DAE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Data, AI &amp; Engineering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4572000"/>
            <a:ext cx="2011680" cy="640080"/>
          </a:xfrm>
          <a:prstGeom prst="roundRect">
            <a:avLst/>
          </a:prstGeom>
          <a:solidFill>
            <a:srgbClr val="0CA67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CD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Continuous Delivery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4572000"/>
            <a:ext cx="2011680" cy="640080"/>
          </a:xfrm>
          <a:prstGeom prst="roundRect">
            <a:avLst/>
          </a:prstGeom>
          <a:solidFill>
            <a:srgbClr val="F59F00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S&amp;TT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Strategy &amp; Technology Transformation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4572000"/>
            <a:ext cx="2011680" cy="640080"/>
          </a:xfrm>
          <a:prstGeom prst="roundRect">
            <a:avLst/>
          </a:prstGeom>
          <a:solidFill>
            <a:srgbClr val="D6336C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Software Engineering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Software Engineering (delivery teams)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212529"/>
                </a:solidFill>
              </a:rPr>
              <a:t>1 — What exists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68E96"/>
                </a:solidFill>
              </a:rPr>
              <a:t>Boxes are portfolio items. Colour = the division that builds it. Cross-cutting concerns are a rail, not a box with eight arrows.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34440"/>
            <a:ext cx="10469880" cy="123215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371600" cy="10492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12529"/>
                </a:solidFill>
              </a:rPr>
              <a:t>Adoption &amp; change</a:t>
            </a:r>
          </a:p>
          <a:p>
            <a:pPr algn="l"/>
            <a:r>
              <a:rPr sz="900" b="0">
                <a:solidFill>
                  <a:srgbClr val="868E96"/>
                </a:solidFill>
              </a:rPr>
              <a:t>Who makes the organisation actually use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435608"/>
            <a:ext cx="4375404" cy="829818"/>
          </a:xfrm>
          <a:prstGeom prst="roundRect">
            <a:avLst/>
          </a:prstGeom>
          <a:solidFill>
            <a:srgbClr val="F59F00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Enablement &amp; training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STT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51676" y="1435608"/>
            <a:ext cx="4375404" cy="829818"/>
          </a:xfrm>
          <a:prstGeom prst="roundRect">
            <a:avLst/>
          </a:prstGeom>
          <a:solidFill>
            <a:srgbClr val="F59F00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Adoption measurement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STT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76322"/>
            <a:ext cx="10469880" cy="123215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67762"/>
            <a:ext cx="1371600" cy="10492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12529"/>
                </a:solidFill>
              </a:rPr>
              <a:t>Delivery use</a:t>
            </a:r>
          </a:p>
          <a:p>
            <a:pPr algn="l"/>
            <a:r>
              <a:rPr sz="900" b="0">
                <a:solidFill>
                  <a:srgbClr val="868E96"/>
                </a:solidFill>
              </a:rPr>
              <a:t>Teams that build software with the AI SDLC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2777490"/>
            <a:ext cx="4375404" cy="829818"/>
          </a:xfrm>
          <a:prstGeom prst="roundRect">
            <a:avLst/>
          </a:prstGeom>
          <a:solidFill>
            <a:srgbClr val="D6336C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Delivery teams &amp; squads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51676" y="2777490"/>
            <a:ext cx="4375404" cy="829818"/>
          </a:xfrm>
          <a:prstGeom prst="roundRect">
            <a:avLst/>
          </a:prstGeom>
          <a:solidFill>
            <a:srgbClr val="868E96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Ways of working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18204"/>
            <a:ext cx="10469880" cy="123215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09644"/>
            <a:ext cx="1371600" cy="10492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12529"/>
                </a:solidFill>
              </a:rPr>
              <a:t>AI SDLC capability</a:t>
            </a:r>
          </a:p>
          <a:p>
            <a:pPr algn="l"/>
            <a:r>
              <a:rPr sz="900" b="0">
                <a:solidFill>
                  <a:srgbClr val="868E96"/>
                </a:solidFill>
              </a:rPr>
              <a:t>The product itself — agents, guardrails, practices, flow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4119372"/>
            <a:ext cx="1651406" cy="829818"/>
          </a:xfrm>
          <a:prstGeom prst="roundRect">
            <a:avLst/>
          </a:prstGeom>
          <a:solidFill>
            <a:srgbClr val="7048E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 SDLC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DAE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27678" y="4119372"/>
            <a:ext cx="1651406" cy="829818"/>
          </a:xfrm>
          <a:prstGeom prst="roundRect">
            <a:avLst/>
          </a:prstGeom>
          <a:solidFill>
            <a:srgbClr val="7048E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Agents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DAE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43676" y="4119372"/>
            <a:ext cx="1651406" cy="829818"/>
          </a:xfrm>
          <a:prstGeom prst="roundRect">
            <a:avLst/>
          </a:prstGeom>
          <a:solidFill>
            <a:srgbClr val="7048E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Guardrails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DAE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59674" y="4119372"/>
            <a:ext cx="1651406" cy="829818"/>
          </a:xfrm>
          <a:prstGeom prst="roundRect">
            <a:avLst/>
          </a:prstGeom>
          <a:solidFill>
            <a:srgbClr val="7048E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AI best practices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DAE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5672" y="4119372"/>
            <a:ext cx="1651406" cy="829818"/>
          </a:xfrm>
          <a:prstGeom prst="roundRect">
            <a:avLst/>
          </a:prstGeom>
          <a:solidFill>
            <a:srgbClr val="0CA67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The flow (golden path)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CD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60086"/>
            <a:ext cx="10469880" cy="123215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212529"/>
                </a:solidFill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51526"/>
            <a:ext cx="1371600" cy="104927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12529"/>
                </a:solidFill>
              </a:rPr>
              <a:t>Platform foundation</a:t>
            </a:r>
          </a:p>
          <a:p>
            <a:pPr algn="l"/>
            <a:r>
              <a:rPr sz="900" b="0">
                <a:solidFill>
                  <a:srgbClr val="868E96"/>
                </a:solidFill>
              </a:rPr>
              <a:t>What the capability is built 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0" y="5461254"/>
            <a:ext cx="2862072" cy="829818"/>
          </a:xfrm>
          <a:prstGeom prst="roundRect">
            <a:avLst/>
          </a:prstGeom>
          <a:solidFill>
            <a:srgbClr val="4C6EF5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Internal developer platform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PE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38344" y="5461254"/>
            <a:ext cx="2862072" cy="829818"/>
          </a:xfrm>
          <a:prstGeom prst="roundRect">
            <a:avLst/>
          </a:prstGeom>
          <a:solidFill>
            <a:srgbClr val="4C6EF5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CI/CD &amp; toolchain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5008" y="5461254"/>
            <a:ext cx="2862072" cy="829818"/>
          </a:xfrm>
          <a:prstGeom prst="roundRect">
            <a:avLst/>
          </a:prstGeom>
          <a:solidFill>
            <a:srgbClr val="4C6EF5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Model access &amp; gateway</a:t>
            </a:r>
          </a:p>
          <a:p>
            <a:pPr algn="ctr"/>
            <a:r>
              <a:rPr sz="900" b="0">
                <a:solidFill>
                  <a:srgbClr val="868E96"/>
                </a:solidFill>
              </a:rPr>
              <a:t>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1234440"/>
            <a:ext cx="1051560" cy="5257800"/>
          </a:xfrm>
          <a:prstGeom prst="roundRect">
            <a:avLst/>
          </a:prstGeom>
          <a:solidFill>
            <a:srgbClr val="0CA67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Observability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212529"/>
                </a:solidFill>
              </a:rPr>
              <a:t>2 — Who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68E96"/>
                </a:solidFill>
              </a:rPr>
              <a:t>The many-to-many part of the story lives here, not in arrows. One row per item, one column per division, role codes in the cell.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859536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70432"/>
                <a:gridCol w="1170432"/>
                <a:gridCol w="1170432"/>
                <a:gridCol w="1170432"/>
                <a:gridCol w="1170432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Portfolio item</a:t>
                      </a:r>
                    </a:p>
                  </a:txBody>
                  <a:tcPr marL="36576" marR="36576" marT="18288" marB="18288" anchor="ctr">
                    <a:solidFill>
                      <a:srgbClr val="343A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Platform Engineering</a:t>
                      </a:r>
                    </a:p>
                  </a:txBody>
                  <a:tcPr marL="36576" marR="36576" marT="18288" marB="18288" anchor="ctr">
                    <a:solidFill>
                      <a:srgbClr val="4C6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DAE</a:t>
                      </a:r>
                    </a:p>
                  </a:txBody>
                  <a:tcPr marL="36576" marR="36576" marT="18288" marB="18288" anchor="ctr">
                    <a:solidFill>
                      <a:srgbClr val="7048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CD</a:t>
                      </a:r>
                    </a:p>
                  </a:txBody>
                  <a:tcPr marL="36576" marR="36576" marT="18288" marB="18288" anchor="ctr">
                    <a:solidFill>
                      <a:srgbClr val="0CA6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S&amp;TT</a:t>
                      </a:r>
                    </a:p>
                  </a:txBody>
                  <a:tcPr marL="36576" marR="36576" marT="18288" marB="18288" anchor="ctr">
                    <a:solidFill>
                      <a:srgbClr val="F59F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Software Engineering</a:t>
                      </a:r>
                    </a:p>
                  </a:txBody>
                  <a:tcPr marL="36576" marR="36576" marT="18288" marB="18288" anchor="ctr">
                    <a:solidFill>
                      <a:srgbClr val="D6336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Enablement &amp; training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048E8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E5D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59F00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FDEE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Adoption measurement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59F00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FDEE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Delivery teams &amp; squads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CA678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D3EF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6336C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F8DAE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Ways of working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59F00"/>
                          </a:solidFill>
                        </a:rPr>
                        <a:t>A</a:t>
                      </a:r>
                    </a:p>
                  </a:txBody>
                  <a:tcPr marL="36576" marR="36576" marT="18288" marB="18288" anchor="ctr">
                    <a:solidFill>
                      <a:srgbClr val="FDEE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6336C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F8DAE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AI SDLC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C6EF5"/>
                          </a:solidFill>
                        </a:rPr>
                        <a:t>G</a:t>
                      </a:r>
                    </a:p>
                  </a:txBody>
                  <a:tcPr marL="36576" marR="36576" marT="18288" marB="18288" anchor="ctr">
                    <a:solidFill>
                      <a:srgbClr val="DFE5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048E8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E5D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CA678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D3EF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59F00"/>
                          </a:solidFill>
                        </a:rPr>
                        <a:t>A</a:t>
                      </a:r>
                    </a:p>
                  </a:txBody>
                  <a:tcPr marL="36576" marR="36576" marT="18288" marB="18288" anchor="ctr">
                    <a:solidFill>
                      <a:srgbClr val="FDEE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12529"/>
                          </a:solidFill>
                        </a:rPr>
                        <a:t>    Agents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048E8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E5D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CA678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D3EF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6336C"/>
                          </a:solidFill>
                        </a:rPr>
                        <a:t>P</a:t>
                      </a:r>
                    </a:p>
                  </a:txBody>
                  <a:tcPr marL="36576" marR="36576" marT="18288" marB="18288" anchor="ctr">
                    <a:solidFill>
                      <a:srgbClr val="F8DAE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12529"/>
                          </a:solidFill>
                        </a:rPr>
                        <a:t>    Guardrails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048E8"/>
                          </a:solidFill>
                        </a:rPr>
                        <a:t>B G</a:t>
                      </a:r>
                    </a:p>
                  </a:txBody>
                  <a:tcPr marL="36576" marR="36576" marT="18288" marB="18288" anchor="ctr">
                    <a:solidFill>
                      <a:srgbClr val="E5D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CA678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D3EF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12529"/>
                          </a:solidFill>
                        </a:rPr>
                        <a:t>    AI best practices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048E8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E5D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59F00"/>
                          </a:solidFill>
                        </a:rPr>
                        <a:t>A</a:t>
                      </a:r>
                    </a:p>
                  </a:txBody>
                  <a:tcPr marL="36576" marR="36576" marT="18288" marB="18288" anchor="ctr">
                    <a:solidFill>
                      <a:srgbClr val="FDEE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6336C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F8DAE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12529"/>
                          </a:solidFill>
                        </a:rPr>
                        <a:t>    The flow (golden path)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CA678"/>
                          </a:solidFill>
                        </a:rPr>
                        <a:t>B O</a:t>
                      </a:r>
                    </a:p>
                  </a:txBody>
                  <a:tcPr marL="36576" marR="36576" marT="18288" marB="18288" anchor="ctr">
                    <a:solidFill>
                      <a:srgbClr val="D3EF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6336C"/>
                          </a:solidFill>
                        </a:rPr>
                        <a:t>P</a:t>
                      </a:r>
                    </a:p>
                  </a:txBody>
                  <a:tcPr marL="36576" marR="36576" marT="18288" marB="18288" anchor="ctr">
                    <a:solidFill>
                      <a:srgbClr val="F8DAE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Internal developer platform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C6EF5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DFE5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CI/CD &amp; toolchain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C6EF5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DFE5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CA678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D3EF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Model access &amp; gateway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C6EF5"/>
                          </a:solidFill>
                        </a:rPr>
                        <a:t>B</a:t>
                      </a:r>
                    </a:p>
                  </a:txBody>
                  <a:tcPr marL="36576" marR="36576" marT="18288" marB="18288" anchor="ctr">
                    <a:solidFill>
                      <a:srgbClr val="DFE5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048E8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E5D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12529"/>
                          </a:solidFill>
                        </a:rPr>
                        <a:t>Observability  (cross-cutting)</a:t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868E96"/>
                          </a:solidFill>
                        </a:rPr>
                        <a:t/>
                      </a: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7048E8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E5DE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CA678"/>
                          </a:solidFill>
                        </a:rPr>
                        <a:t>B O</a:t>
                      </a:r>
                    </a:p>
                  </a:txBody>
                  <a:tcPr marL="36576" marR="36576" marT="18288" marB="18288" anchor="ctr">
                    <a:solidFill>
                      <a:srgbClr val="D3EF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59F00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FDEED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D6336C"/>
                          </a:solidFill>
                        </a:rPr>
                        <a:t>U</a:t>
                      </a:r>
                    </a:p>
                  </a:txBody>
                  <a:tcPr marL="36576" marR="36576" marT="18288" marB="18288" anchor="ctr">
                    <a:solidFill>
                      <a:srgbClr val="F8DAE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143000"/>
            <a:ext cx="26517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212529"/>
                </a:solidFill>
              </a:rPr>
              <a:t>Role codes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81160" y="150876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212529"/>
                </a:solidFill>
              </a:rPr>
              <a:t>B — Builds &amp; maintains</a:t>
            </a:r>
          </a:p>
          <a:p>
            <a:pPr algn="l"/>
            <a:r>
              <a:rPr sz="800" b="0">
                <a:solidFill>
                  <a:srgbClr val="868E96"/>
                </a:solidFill>
              </a:rPr>
              <a:t>Creates the thing and keeps it running as a product.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81160" y="2075688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212529"/>
                </a:solidFill>
              </a:rPr>
              <a:t>P — Product owner</a:t>
            </a:r>
          </a:p>
          <a:p>
            <a:pPr algn="l"/>
            <a:r>
              <a:rPr sz="800" b="0">
                <a:solidFill>
                  <a:srgbClr val="868E96"/>
                </a:solidFill>
              </a:rPr>
              <a:t>Decides what it should do next; owns the backlog.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81160" y="2642616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212529"/>
                </a:solidFill>
              </a:rPr>
              <a:t>U — Uses</a:t>
            </a:r>
          </a:p>
          <a:p>
            <a:pPr algn="l"/>
            <a:r>
              <a:rPr sz="800" b="0">
                <a:solidFill>
                  <a:srgbClr val="868E96"/>
                </a:solidFill>
              </a:rPr>
              <a:t>Consumes it in day-to-day delivery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81160" y="3209544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212529"/>
                </a:solidFill>
              </a:rPr>
              <a:t>A — Drives adoption</a:t>
            </a:r>
          </a:p>
          <a:p>
            <a:pPr algn="l"/>
            <a:r>
              <a:rPr sz="800" b="0">
                <a:solidFill>
                  <a:srgbClr val="868E96"/>
                </a:solidFill>
              </a:rPr>
              <a:t>Rollout, enablement, training, measuring uptake.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81160" y="3776472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212529"/>
                </a:solidFill>
              </a:rPr>
              <a:t>G — Governs</a:t>
            </a:r>
          </a:p>
          <a:p>
            <a:pPr algn="l"/>
            <a:r>
              <a:rPr sz="800" b="0">
                <a:solidFill>
                  <a:srgbClr val="868E96"/>
                </a:solidFill>
              </a:rPr>
              <a:t>Sets policy, standards, guardrails; accountable for compliance.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434340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212529"/>
                </a:solidFill>
              </a:rPr>
              <a:t>O — Operates</a:t>
            </a:r>
          </a:p>
          <a:p>
            <a:pPr algn="l"/>
            <a:r>
              <a:rPr sz="800" b="0">
                <a:solidFill>
                  <a:srgbClr val="868E96"/>
                </a:solidFill>
              </a:rPr>
              <a:t>Runs it, watches it, carries the pager.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1160" y="5001768"/>
            <a:ext cx="26517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solidFill>
                  <a:srgbClr val="868E96"/>
                </a:solidFill>
              </a:rPr>
              <a:t>A cell with two codes is not a mistake: it is the point. Empty column = that division has no stake in that row.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212529"/>
                </a:solidFill>
              </a:rPr>
              <a:t>3 — How the divisions need each 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68E96"/>
                </a:solidFill>
              </a:rPr>
              <a:t>One arrow per handoff, each labelled with a verb. Keep this under eight arrows; anything more belongs in the matrix.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440179"/>
            <a:ext cx="2103120" cy="868680"/>
          </a:xfrm>
          <a:prstGeom prst="roundRect">
            <a:avLst/>
          </a:prstGeom>
          <a:solidFill>
            <a:srgbClr val="4C6EF5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Platform Engineering</a:t>
            </a:r>
          </a:p>
          <a:p>
            <a:pPr algn="ctr"/>
            <a:r>
              <a:rPr sz="1000" b="0">
                <a:solidFill>
                  <a:srgbClr val="868E96"/>
                </a:solidFill>
              </a:rPr>
              <a:t>Platform Engineering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94358" y="2893399"/>
            <a:ext cx="2103120" cy="868680"/>
          </a:xfrm>
          <a:prstGeom prst="roundRect">
            <a:avLst/>
          </a:prstGeom>
          <a:solidFill>
            <a:srgbClr val="7048E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DAE</a:t>
            </a:r>
          </a:p>
          <a:p>
            <a:pPr algn="ctr"/>
            <a:r>
              <a:rPr sz="1000" b="0">
                <a:solidFill>
                  <a:srgbClr val="868E96"/>
                </a:solidFill>
              </a:rPr>
              <a:t>Data, AI &amp;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66004" y="5244758"/>
            <a:ext cx="2103120" cy="868680"/>
          </a:xfrm>
          <a:prstGeom prst="roundRect">
            <a:avLst/>
          </a:prstGeom>
          <a:solidFill>
            <a:srgbClr val="0CA678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CD</a:t>
            </a:r>
          </a:p>
          <a:p>
            <a:pPr algn="ctr"/>
            <a:r>
              <a:rPr sz="1000" b="0">
                <a:solidFill>
                  <a:srgbClr val="868E96"/>
                </a:solidFill>
              </a:rPr>
              <a:t>Continuous Delivery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43755" y="5244758"/>
            <a:ext cx="2103120" cy="868680"/>
          </a:xfrm>
          <a:prstGeom prst="roundRect">
            <a:avLst/>
          </a:prstGeom>
          <a:solidFill>
            <a:srgbClr val="F59F00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S&amp;TT</a:t>
            </a:r>
          </a:p>
          <a:p>
            <a:pPr algn="ctr"/>
            <a:r>
              <a:rPr sz="1000" b="0">
                <a:solidFill>
                  <a:srgbClr val="868E96"/>
                </a:solidFill>
              </a:rPr>
              <a:t>Strategy &amp; Technology Transformation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5401" y="2893399"/>
            <a:ext cx="2103120" cy="868680"/>
          </a:xfrm>
          <a:prstGeom prst="roundRect">
            <a:avLst/>
          </a:prstGeom>
          <a:solidFill>
            <a:srgbClr val="D6336C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Software Engineering</a:t>
            </a:r>
          </a:p>
          <a:p>
            <a:pPr algn="ctr"/>
            <a:r>
              <a:rPr sz="1000" b="0">
                <a:solidFill>
                  <a:srgbClr val="868E96"/>
                </a:solidFill>
              </a:rPr>
              <a:t>Software Engineering (delivery teams)</a:t>
            </a:r>
          </a:p>
        </p:txBody>
      </p:sp>
      <p:cxnSp>
        <p:nvCxnSpPr>
          <p:cNvPr id="9" name="Connector 8"/>
          <p:cNvCxnSpPr>
            <a:stCxn id="4" idx="3"/>
            <a:endCxn id="5" idx="1"/>
          </p:cNvCxnSpPr>
          <p:nvPr/>
        </p:nvCxnSpPr>
        <p:spPr>
          <a:xfrm>
            <a:off x="6858000" y="1874519"/>
            <a:ext cx="1636358" cy="1453220"/>
          </a:xfrm>
          <a:prstGeom prst="line">
            <a:avLst/>
          </a:prstGeom>
          <a:ln w="22225">
            <a:solidFill>
              <a:srgbClr val="4C6E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07499" y="2454825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4C6EF5"/>
                </a:solidFill>
              </a:rPr>
              <a:t>provides platform &amp; portfolio home</a:t>
            </a:r>
          </a:p>
        </p:txBody>
      </p: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8117564" y="3762079"/>
            <a:ext cx="1428354" cy="1482679"/>
          </a:xfrm>
          <a:prstGeom prst="line">
            <a:avLst/>
          </a:prstGeom>
          <a:ln w="22225">
            <a:solidFill>
              <a:srgbClr val="704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963061" y="4357114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7048E8"/>
                </a:solidFill>
              </a:rPr>
              <a:t>delivers agents, guardrails, practices</a:t>
            </a:r>
          </a:p>
        </p:txBody>
      </p:sp>
      <p:cxnSp>
        <p:nvCxnSpPr>
          <p:cNvPr id="13" name="Connector 12"/>
          <p:cNvCxnSpPr>
            <a:stCxn id="6" idx="1"/>
            <a:endCxn id="8" idx="3"/>
          </p:cNvCxnSpPr>
          <p:nvPr/>
        </p:nvCxnSpPr>
        <p:spPr>
          <a:xfrm flipH="1" flipV="1">
            <a:off x="3118521" y="3327739"/>
            <a:ext cx="3947483" cy="2351359"/>
          </a:xfrm>
          <a:prstGeom prst="line">
            <a:avLst/>
          </a:prstGeom>
          <a:ln w="22225">
            <a:solidFill>
              <a:srgbClr val="0CA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23582" y="4357114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0CA678"/>
                </a:solidFill>
              </a:rPr>
              <a:t>runs the flow teams work in</a:t>
            </a:r>
          </a:p>
        </p:txBody>
      </p:sp>
      <p:cxnSp>
        <p:nvCxnSpPr>
          <p:cNvPr id="15" name="Connector 14"/>
          <p:cNvCxnSpPr>
            <a:stCxn id="8" idx="3"/>
            <a:endCxn id="5" idx="1"/>
          </p:cNvCxnSpPr>
          <p:nvPr/>
        </p:nvCxnSpPr>
        <p:spPr>
          <a:xfrm flipV="1">
            <a:off x="3118521" y="3327739"/>
            <a:ext cx="5375837" cy="0"/>
          </a:xfrm>
          <a:prstGeom prst="line">
            <a:avLst/>
          </a:prstGeom>
          <a:ln w="22225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37759" y="3181435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D6336C"/>
                </a:solidFill>
              </a:rPr>
              <a:t>prioritises agents (PO role)</a:t>
            </a:r>
          </a:p>
        </p:txBody>
      </p:sp>
      <p:cxnSp>
        <p:nvCxnSpPr>
          <p:cNvPr id="17" name="Connector 16"/>
          <p:cNvCxnSpPr>
            <a:stCxn id="8" idx="3"/>
            <a:endCxn id="6" idx="1"/>
          </p:cNvCxnSpPr>
          <p:nvPr/>
        </p:nvCxnSpPr>
        <p:spPr>
          <a:xfrm>
            <a:off x="3118521" y="3327739"/>
            <a:ext cx="3947483" cy="2351359"/>
          </a:xfrm>
          <a:prstGeom prst="line">
            <a:avLst/>
          </a:prstGeom>
          <a:ln w="22225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223582" y="4357114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D6336C"/>
                </a:solidFill>
              </a:rPr>
              <a:t>prioritises the flow (PO role)</a:t>
            </a:r>
          </a:p>
        </p:txBody>
      </p:sp>
      <p:cxnSp>
        <p:nvCxnSpPr>
          <p:cNvPr id="19" name="Connector 18"/>
          <p:cNvCxnSpPr>
            <a:stCxn id="7" idx="0"/>
            <a:endCxn id="8" idx="2"/>
          </p:cNvCxnSpPr>
          <p:nvPr/>
        </p:nvCxnSpPr>
        <p:spPr>
          <a:xfrm flipH="1" flipV="1">
            <a:off x="2066961" y="3762079"/>
            <a:ext cx="1428354" cy="1482679"/>
          </a:xfrm>
          <a:prstGeom prst="line">
            <a:avLst/>
          </a:prstGeom>
          <a:ln w="22225">
            <a:solidFill>
              <a:srgbClr val="F59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912458" y="4357114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F59F00"/>
                </a:solidFill>
              </a:rPr>
              <a:t>drives adoption &amp; enablement</a:t>
            </a:r>
          </a:p>
        </p:txBody>
      </p:sp>
      <p:cxnSp>
        <p:nvCxnSpPr>
          <p:cNvPr id="21" name="Connector 20"/>
          <p:cNvCxnSpPr>
            <a:stCxn id="6" idx="1"/>
            <a:endCxn id="7" idx="3"/>
          </p:cNvCxnSpPr>
          <p:nvPr/>
        </p:nvCxnSpPr>
        <p:spPr>
          <a:xfrm flipH="1" flipV="1">
            <a:off x="4546875" y="5679098"/>
            <a:ext cx="2519129" cy="0"/>
          </a:xfrm>
          <a:prstGeom prst="line">
            <a:avLst/>
          </a:prstGeom>
          <a:ln w="22225">
            <a:solidFill>
              <a:srgbClr val="0CA6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937759" y="5532794"/>
            <a:ext cx="17373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0CA678"/>
                </a:solidFill>
              </a:rPr>
              <a:t>supplies observability &amp; usage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212529"/>
                </a:solidFill>
              </a:rPr>
              <a:t>How to keep this slide deck true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68E96"/>
                </a:solidFill>
              </a:rPr>
              <a:t>The deck is an output. The model is the source.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377440" cy="822960"/>
          </a:xfrm>
          <a:prstGeom prst="roundRect">
            <a:avLst/>
          </a:prstGeom>
          <a:solidFill>
            <a:srgbClr val="343A40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1. Change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371600"/>
            <a:ext cx="8595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12529"/>
                </a:solidFill>
              </a:rPr>
              <a:t>Edit portfolio-map/model.yaml — one line per item, responsibility, dependency or handoff. No shape fiddling.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2377440" cy="822960"/>
          </a:xfrm>
          <a:prstGeom prst="roundRect">
            <a:avLst/>
          </a:prstGeom>
          <a:solidFill>
            <a:srgbClr val="343A40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2. Regenerate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0"/>
            <a:ext cx="8595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12529"/>
                </a:solidFill>
              </a:rPr>
              <a:t>`make all` (or `python render.py`) rewrites the Mermaid, draw.io, CSV and PowerPoint outputs from that one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383280"/>
            <a:ext cx="2377440" cy="822960"/>
          </a:xfrm>
          <a:prstGeom prst="roundRect">
            <a:avLst/>
          </a:prstGeom>
          <a:solidFill>
            <a:srgbClr val="343A40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3. Re-paste, don't redraw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383280"/>
            <a:ext cx="8595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12529"/>
                </a:solidFill>
              </a:rPr>
              <a:t>Replace slides 2–4 wholesale. Shapes stay native PowerPoint objects, so anyone can still nudge them — but nudges are disposable, the model is not.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389120"/>
            <a:ext cx="2377440" cy="822960"/>
          </a:xfrm>
          <a:prstGeom prst="roundRect">
            <a:avLst/>
          </a:prstGeom>
          <a:solidFill>
            <a:srgbClr val="343A40"/>
          </a:solidFill>
          <a:ln w="9525">
            <a:solidFill>
              <a:srgbClr val="4950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4. Review cadence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389120"/>
            <a:ext cx="85953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212529"/>
                </a:solidFill>
              </a:rPr>
              <a:t>Walk the matrix in the portfolio review; a disputed cell is a real governance question, and the diff on model.yaml is the record of the decision.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68E96"/>
                </a:solidFill>
              </a:rPr>
              <a:t>Rule of thumb: structure (what exists) → layered picture; responsibility (who) → matrix; dependency (who needs who) → flow. Mixing the three is what makes these diagrams unreadable and unmaintainable.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