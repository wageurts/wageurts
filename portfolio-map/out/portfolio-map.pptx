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69600" y="2794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934700" y="254000"/>
            <a:ext cx="10414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Drives adoption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8240" y="2794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213340" y="254000"/>
            <a:ext cx="5943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Governs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94520" y="2794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59620" y="254000"/>
            <a:ext cx="4267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Uses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4359" y="2794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79459" y="254000"/>
            <a:ext cx="11531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Builds &amp; delivers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000" y="177800"/>
            <a:ext cx="7706359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212529"/>
                </a:solidFill>
              </a:rPr>
              <a:t>Divisions, portfolio and responsibilities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000" y="482600"/>
            <a:ext cx="11684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16"/>
              </a:lnSpc>
            </a:pPr>
            <a:r>
              <a:rPr sz="950" b="0">
                <a:solidFill>
                  <a:srgbClr val="868E96"/>
                </a:solidFill>
              </a:rPr>
              <a:t>Three layers, one colour meaning per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000" y="787400"/>
            <a:ext cx="5334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868E96"/>
                </a:solidFill>
              </a:rPr>
              <a:t>1  ·  DIVISION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8000" y="787400"/>
            <a:ext cx="381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ADB5BD"/>
                </a:solidFill>
              </a:rPr>
              <a:t>who we are · colour = division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4000" y="965200"/>
            <a:ext cx="3810000" cy="1193800"/>
          </a:xfrm>
          <a:prstGeom prst="roundRect">
            <a:avLst>
              <a:gd name="adj" fmla="val 6382"/>
            </a:avLst>
          </a:prstGeom>
          <a:solidFill>
            <a:srgbClr val="F0F7F8"/>
          </a:solidFill>
          <a:ln w="9525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54000" y="965200"/>
            <a:ext cx="3810000" cy="50800"/>
          </a:xfrm>
          <a:prstGeom prst="roundRect">
            <a:avLst>
              <a:gd name="adj" fmla="val 50000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06400" y="1168400"/>
            <a:ext cx="431800" cy="431800"/>
          </a:xfrm>
          <a:prstGeom prst="ellipse">
            <a:avLst/>
          </a:prstGeom>
          <a:solidFill>
            <a:srgbClr val="DD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00705" y="1362191"/>
            <a:ext cx="110540" cy="110540"/>
          </a:xfrm>
          <a:prstGeom prst="ellipse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561502" y="1323502"/>
            <a:ext cx="132648" cy="132648"/>
          </a:xfrm>
          <a:prstGeom prst="ellipse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38881" y="1367718"/>
            <a:ext cx="105013" cy="105013"/>
          </a:xfrm>
          <a:prstGeom prst="ellipse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17286" y="1417462"/>
            <a:ext cx="210027" cy="55270"/>
          </a:xfrm>
          <a:prstGeom prst="roundRect">
            <a:avLst>
              <a:gd name="adj" fmla="val 50000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5200" y="1143000"/>
            <a:ext cx="29464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8"/>
              </a:lnSpc>
            </a:pPr>
            <a:r>
              <a:rPr sz="1100" b="1">
                <a:solidFill>
                  <a:srgbClr val="0B7285"/>
                </a:solidFill>
              </a:rPr>
              <a:t>Cloud &amp;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200" y="1346200"/>
            <a:ext cx="2946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868E96"/>
                </a:solidFill>
              </a:rPr>
              <a:t>C&amp;D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6400" y="1625600"/>
            <a:ext cx="1102360" cy="190500"/>
          </a:xfrm>
          <a:prstGeom prst="roundRect">
            <a:avLst>
              <a:gd name="adj" fmla="val 50000"/>
            </a:avLst>
          </a:prstGeom>
          <a:solidFill>
            <a:srgbClr val="DD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95300" y="1625600"/>
            <a:ext cx="92456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0B7285"/>
                </a:solidFill>
              </a:rPr>
              <a:t>Software Engineering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72260" y="1625600"/>
            <a:ext cx="963676" cy="190500"/>
          </a:xfrm>
          <a:prstGeom prst="roundRect">
            <a:avLst>
              <a:gd name="adj" fmla="val 50000"/>
            </a:avLst>
          </a:prstGeom>
          <a:solidFill>
            <a:srgbClr val="DD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661160" y="1625600"/>
            <a:ext cx="785876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0B7285"/>
                </a:solidFill>
              </a:rPr>
              <a:t>Cloud Engineering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99436" y="1625600"/>
            <a:ext cx="1102360" cy="190500"/>
          </a:xfrm>
          <a:prstGeom prst="roundRect">
            <a:avLst>
              <a:gd name="adj" fmla="val 50000"/>
            </a:avLst>
          </a:prstGeom>
          <a:solidFill>
            <a:srgbClr val="DD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688336" y="1625600"/>
            <a:ext cx="92456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0B7285"/>
                </a:solidFill>
              </a:rPr>
              <a:t>Platform Engineering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6400" y="1841500"/>
            <a:ext cx="1102360" cy="190500"/>
          </a:xfrm>
          <a:prstGeom prst="roundRect">
            <a:avLst>
              <a:gd name="adj" fmla="val 50000"/>
            </a:avLst>
          </a:prstGeom>
          <a:solidFill>
            <a:srgbClr val="DD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95300" y="1841500"/>
            <a:ext cx="92456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0B7285"/>
                </a:solidFill>
              </a:rPr>
              <a:t>Workplace Management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91000" y="965200"/>
            <a:ext cx="3810000" cy="1193800"/>
          </a:xfrm>
          <a:prstGeom prst="roundRect">
            <a:avLst>
              <a:gd name="adj" fmla="val 6382"/>
            </a:avLst>
          </a:prstGeom>
          <a:solidFill>
            <a:srgbClr val="F5F3FB"/>
          </a:solidFill>
          <a:ln w="9525">
            <a:solidFill>
              <a:srgbClr val="5F3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4191000" y="965200"/>
            <a:ext cx="3810000" cy="50800"/>
          </a:xfrm>
          <a:prstGeom prst="roundRect">
            <a:avLst>
              <a:gd name="adj" fmla="val 50000"/>
            </a:avLst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343400" y="1168400"/>
            <a:ext cx="431800" cy="431800"/>
          </a:xfrm>
          <a:prstGeom prst="ellipse">
            <a:avLst/>
          </a:prstGeom>
          <a:solidFill>
            <a:srgbClr val="E9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4459813" y="1295867"/>
            <a:ext cx="198973" cy="55270"/>
          </a:xfrm>
          <a:prstGeom prst="roundRect">
            <a:avLst>
              <a:gd name="adj" fmla="val 45000"/>
            </a:avLst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4459813" y="1276522"/>
            <a:ext cx="198973" cy="44216"/>
          </a:xfrm>
          <a:prstGeom prst="ellipse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4459813" y="1362191"/>
            <a:ext cx="198973" cy="55270"/>
          </a:xfrm>
          <a:prstGeom prst="roundRect">
            <a:avLst>
              <a:gd name="adj" fmla="val 45000"/>
            </a:avLst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4459813" y="1342847"/>
            <a:ext cx="198973" cy="44216"/>
          </a:xfrm>
          <a:prstGeom prst="ellipse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4459813" y="1428516"/>
            <a:ext cx="198973" cy="55270"/>
          </a:xfrm>
          <a:prstGeom prst="roundRect">
            <a:avLst>
              <a:gd name="adj" fmla="val 45000"/>
            </a:avLst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4459813" y="1409171"/>
            <a:ext cx="198973" cy="44216"/>
          </a:xfrm>
          <a:prstGeom prst="ellipse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902200" y="1143000"/>
            <a:ext cx="29464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8"/>
              </a:lnSpc>
            </a:pPr>
            <a:r>
              <a:rPr sz="1100" b="1">
                <a:solidFill>
                  <a:srgbClr val="5F3DC4"/>
                </a:solidFill>
              </a:rPr>
              <a:t>Data, AI &amp; Engagement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02200" y="1346200"/>
            <a:ext cx="2946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868E96"/>
                </a:solidFill>
              </a:rPr>
              <a:t>DA&amp;E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1625600"/>
            <a:ext cx="871219" cy="190500"/>
          </a:xfrm>
          <a:prstGeom prst="roundRect">
            <a:avLst>
              <a:gd name="adj" fmla="val 50000"/>
            </a:avLst>
          </a:prstGeom>
          <a:solidFill>
            <a:srgbClr val="E9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432300" y="1625600"/>
            <a:ext cx="693419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5F3DC4"/>
                </a:solidFill>
              </a:rPr>
              <a:t>Data Management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78120" y="1625600"/>
            <a:ext cx="778764" cy="190500"/>
          </a:xfrm>
          <a:prstGeom prst="roundRect">
            <a:avLst>
              <a:gd name="adj" fmla="val 50000"/>
            </a:avLst>
          </a:prstGeom>
          <a:solidFill>
            <a:srgbClr val="E9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367020" y="1625600"/>
            <a:ext cx="600964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5F3DC4"/>
                </a:solidFill>
              </a:rPr>
              <a:t>Data Platform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20384" y="1625600"/>
            <a:ext cx="270256" cy="190500"/>
          </a:xfrm>
          <a:prstGeom prst="roundRect">
            <a:avLst>
              <a:gd name="adj" fmla="val 50000"/>
            </a:avLst>
          </a:prstGeom>
          <a:solidFill>
            <a:srgbClr val="E9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209284" y="1625600"/>
            <a:ext cx="92456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5F3DC4"/>
                </a:solidFill>
              </a:rPr>
              <a:t>AI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54140" y="1625600"/>
            <a:ext cx="640080" cy="190500"/>
          </a:xfrm>
          <a:prstGeom prst="roundRect">
            <a:avLst>
              <a:gd name="adj" fmla="val 50000"/>
            </a:avLst>
          </a:prstGeom>
          <a:solidFill>
            <a:srgbClr val="E9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543040" y="1625600"/>
            <a:ext cx="46228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5F3DC4"/>
                </a:solidFill>
              </a:rPr>
              <a:t>Automation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28000" y="965200"/>
            <a:ext cx="3810000" cy="1193800"/>
          </a:xfrm>
          <a:prstGeom prst="roundRect">
            <a:avLst>
              <a:gd name="adj" fmla="val 6382"/>
            </a:avLst>
          </a:prstGeom>
          <a:solidFill>
            <a:srgbClr val="FAF2F4"/>
          </a:solidFill>
          <a:ln w="9525">
            <a:solidFill>
              <a:srgbClr val="A61E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8128000" y="965200"/>
            <a:ext cx="3810000" cy="50800"/>
          </a:xfrm>
          <a:prstGeom prst="roundRect">
            <a:avLst>
              <a:gd name="adj" fmla="val 50000"/>
            </a:avLst>
          </a:prstGeom>
          <a:solidFill>
            <a:srgbClr val="A61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8280400" y="1168400"/>
            <a:ext cx="431800" cy="431800"/>
          </a:xfrm>
          <a:prstGeom prst="ellipse">
            <a:avLst/>
          </a:prstGeom>
          <a:solidFill>
            <a:srgbClr val="F3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8407867" y="1284813"/>
            <a:ext cx="176865" cy="127121"/>
          </a:xfrm>
          <a:prstGeom prst="roundRect">
            <a:avLst>
              <a:gd name="adj" fmla="val 13043"/>
            </a:avLst>
          </a:prstGeom>
          <a:solidFill>
            <a:srgbClr val="A61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8407867" y="1329029"/>
            <a:ext cx="176865" cy="160284"/>
          </a:xfrm>
          <a:prstGeom prst="ellipse">
            <a:avLst/>
          </a:prstGeom>
          <a:solidFill>
            <a:srgbClr val="A61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8476955" y="1351137"/>
            <a:ext cx="38689" cy="3868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8488009" y="1373245"/>
            <a:ext cx="16581" cy="44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839200" y="1143000"/>
            <a:ext cx="29464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8"/>
              </a:lnSpc>
            </a:pPr>
            <a:r>
              <a:rPr sz="1100" b="1">
                <a:solidFill>
                  <a:srgbClr val="A61E4D"/>
                </a:solidFill>
              </a:rPr>
              <a:t>Security &amp; Technology Transformation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39200" y="1346200"/>
            <a:ext cx="2946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868E96"/>
                </a:solidFill>
              </a:rPr>
              <a:t>S&amp;TT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80400" y="1625600"/>
            <a:ext cx="824992" cy="190500"/>
          </a:xfrm>
          <a:prstGeom prst="roundRect">
            <a:avLst>
              <a:gd name="adj" fmla="val 50000"/>
            </a:avLst>
          </a:prstGeom>
          <a:solidFill>
            <a:srgbClr val="F3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8369300" y="1625600"/>
            <a:ext cx="647192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A61E4D"/>
                </a:solidFill>
              </a:rPr>
              <a:t>Transformation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68892" y="1625600"/>
            <a:ext cx="547624" cy="190500"/>
          </a:xfrm>
          <a:prstGeom prst="roundRect">
            <a:avLst>
              <a:gd name="adj" fmla="val 50000"/>
            </a:avLst>
          </a:prstGeom>
          <a:solidFill>
            <a:srgbClr val="F3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257792" y="1625600"/>
            <a:ext cx="369824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A61E4D"/>
                </a:solidFill>
              </a:rPr>
              <a:t>Adoption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780016" y="1625600"/>
            <a:ext cx="547624" cy="190500"/>
          </a:xfrm>
          <a:prstGeom prst="roundRect">
            <a:avLst>
              <a:gd name="adj" fmla="val 50000"/>
            </a:avLst>
          </a:prstGeom>
          <a:solidFill>
            <a:srgbClr val="F3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868916" y="1625600"/>
            <a:ext cx="369824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A61E4D"/>
                </a:solidFill>
              </a:rPr>
              <a:t>Security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54000" y="2311400"/>
            <a:ext cx="5334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868E96"/>
                </a:solidFill>
              </a:rPr>
              <a:t>2  ·  PORTFOLIO LAYER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048000" y="2311400"/>
            <a:ext cx="381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ADB5BD"/>
                </a:solidFill>
              </a:rPr>
              <a:t>what we offer · colour = who owns it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54000" y="2489200"/>
            <a:ext cx="2825750" cy="166370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254000" y="2489200"/>
            <a:ext cx="2825750" cy="50800"/>
          </a:xfrm>
          <a:prstGeom prst="roundRect">
            <a:avLst>
              <a:gd name="adj" fmla="val 50000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381000" y="2667000"/>
            <a:ext cx="381000" cy="381000"/>
          </a:xfrm>
          <a:prstGeom prst="ellipse">
            <a:avLst/>
          </a:prstGeom>
          <a:solidFill>
            <a:srgbClr val="DD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473964" y="2784348"/>
            <a:ext cx="195072" cy="34137"/>
          </a:xfrm>
          <a:prstGeom prst="roundRect">
            <a:avLst>
              <a:gd name="adj" fmla="val 35714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ounded Rectangle 70"/>
          <p:cNvSpPr/>
          <p:nvPr/>
        </p:nvSpPr>
        <p:spPr>
          <a:xfrm>
            <a:off x="488594" y="2837992"/>
            <a:ext cx="165811" cy="34137"/>
          </a:xfrm>
          <a:prstGeom prst="roundRect">
            <a:avLst>
              <a:gd name="adj" fmla="val 35714"/>
            </a:avLst>
          </a:prstGeom>
          <a:solidFill>
            <a:srgbClr val="60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ounded Rectangle 71"/>
          <p:cNvSpPr/>
          <p:nvPr/>
        </p:nvSpPr>
        <p:spPr>
          <a:xfrm>
            <a:off x="503224" y="2891637"/>
            <a:ext cx="136550" cy="34137"/>
          </a:xfrm>
          <a:prstGeom prst="roundRect">
            <a:avLst>
              <a:gd name="adj" fmla="val 35714"/>
            </a:avLst>
          </a:prstGeom>
          <a:solidFill>
            <a:srgbClr val="B6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863600" y="2654300"/>
            <a:ext cx="208915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1050" b="1">
                <a:solidFill>
                  <a:srgbClr val="0B7285"/>
                </a:solidFill>
              </a:rPr>
              <a:t>Platform Engineering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3600" y="2844800"/>
            <a:ext cx="208915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868E96"/>
                </a:solidFill>
              </a:rPr>
              <a:t>built by C&amp;D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81000" y="31242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457200" y="31242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Containers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81000" y="33147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457200" y="33147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Version control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81000" y="35052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57200" y="35052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Pipelines &amp; CI/CD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81000" y="36957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457200" y="36957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Reporting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206750" y="2489200"/>
            <a:ext cx="2825750" cy="166370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5F3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ounded Rectangle 83"/>
          <p:cNvSpPr/>
          <p:nvPr/>
        </p:nvSpPr>
        <p:spPr>
          <a:xfrm>
            <a:off x="3206750" y="2489200"/>
            <a:ext cx="2825750" cy="50800"/>
          </a:xfrm>
          <a:prstGeom prst="roundRect">
            <a:avLst>
              <a:gd name="adj" fmla="val 50000"/>
            </a:avLst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3333750" y="2667000"/>
            <a:ext cx="381000" cy="381000"/>
          </a:xfrm>
          <a:prstGeom prst="ellipse">
            <a:avLst/>
          </a:prstGeom>
          <a:solidFill>
            <a:srgbClr val="E9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3509619" y="2755087"/>
            <a:ext cx="29260" cy="29260"/>
          </a:xfrm>
          <a:prstGeom prst="ellipse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3521811" y="2774594"/>
            <a:ext cx="4876" cy="24384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ounded Rectangle 87"/>
          <p:cNvSpPr/>
          <p:nvPr/>
        </p:nvSpPr>
        <p:spPr>
          <a:xfrm>
            <a:off x="3441344" y="2798978"/>
            <a:ext cx="165811" cy="126796"/>
          </a:xfrm>
          <a:prstGeom prst="roundRect">
            <a:avLst>
              <a:gd name="adj" fmla="val 26923"/>
            </a:avLst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3475481" y="2837992"/>
            <a:ext cx="31699" cy="316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3541318" y="2837992"/>
            <a:ext cx="31699" cy="316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3485235" y="2886760"/>
            <a:ext cx="78028" cy="1463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3816350" y="2654300"/>
            <a:ext cx="208915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1050" b="1">
                <a:solidFill>
                  <a:srgbClr val="5F3DC4"/>
                </a:solidFill>
              </a:rPr>
              <a:t>AI SDLC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16350" y="2844800"/>
            <a:ext cx="208915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868E96"/>
                </a:solidFill>
              </a:rPr>
              <a:t>built by DA&amp;E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3333750" y="31242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3409950" y="31242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Agents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333750" y="33147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3409950" y="33147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Flows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333750" y="35052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3409950" y="35052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Skills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333750" y="36957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3409950" y="36957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MCP integration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333750" y="38862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F4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3409950" y="38862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Guardrails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159500" y="2489200"/>
            <a:ext cx="2825750" cy="166370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ounded Rectangle 104"/>
          <p:cNvSpPr/>
          <p:nvPr/>
        </p:nvSpPr>
        <p:spPr>
          <a:xfrm>
            <a:off x="6159500" y="2489200"/>
            <a:ext cx="2825750" cy="50800"/>
          </a:xfrm>
          <a:prstGeom prst="roundRect">
            <a:avLst>
              <a:gd name="adj" fmla="val 50000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6286500" y="2667000"/>
            <a:ext cx="381000" cy="381000"/>
          </a:xfrm>
          <a:prstGeom prst="ellipse">
            <a:avLst/>
          </a:prstGeom>
          <a:solidFill>
            <a:srgbClr val="DD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6369710" y="2798978"/>
            <a:ext cx="214579" cy="117043"/>
          </a:xfrm>
          <a:prstGeom prst="ellipse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6428232" y="2813608"/>
            <a:ext cx="97536" cy="8778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6447739" y="2828239"/>
            <a:ext cx="58521" cy="58521"/>
          </a:xfrm>
          <a:prstGeom prst="ellipse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6769100" y="2654300"/>
            <a:ext cx="208915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1050" b="1">
                <a:solidFill>
                  <a:srgbClr val="0B7285"/>
                </a:solidFill>
              </a:rPr>
              <a:t>Observability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769100" y="2844800"/>
            <a:ext cx="208915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868E96"/>
                </a:solidFill>
              </a:rPr>
              <a:t>built by C&amp;D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286500" y="31242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TextBox 112"/>
          <p:cNvSpPr txBox="1"/>
          <p:nvPr/>
        </p:nvSpPr>
        <p:spPr>
          <a:xfrm>
            <a:off x="6362700" y="31242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Traces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286500" y="33147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TextBox 114"/>
          <p:cNvSpPr txBox="1"/>
          <p:nvPr/>
        </p:nvSpPr>
        <p:spPr>
          <a:xfrm>
            <a:off x="6362700" y="33147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Dashboards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286500" y="35052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6362700" y="35052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Evaluations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286500" y="36957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TextBox 118"/>
          <p:cNvSpPr txBox="1"/>
          <p:nvPr/>
        </p:nvSpPr>
        <p:spPr>
          <a:xfrm>
            <a:off x="6362700" y="36957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Alerting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9112250" y="2489200"/>
            <a:ext cx="2825750" cy="166370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ounded Rectangle 120"/>
          <p:cNvSpPr/>
          <p:nvPr/>
        </p:nvSpPr>
        <p:spPr>
          <a:xfrm>
            <a:off x="9112250" y="2489200"/>
            <a:ext cx="2825750" cy="50800"/>
          </a:xfrm>
          <a:prstGeom prst="roundRect">
            <a:avLst>
              <a:gd name="adj" fmla="val 50000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9239250" y="2667000"/>
            <a:ext cx="381000" cy="381000"/>
          </a:xfrm>
          <a:prstGeom prst="ellipse">
            <a:avLst/>
          </a:prstGeom>
          <a:solidFill>
            <a:srgbClr val="DD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Oval 122"/>
          <p:cNvSpPr/>
          <p:nvPr/>
        </p:nvSpPr>
        <p:spPr>
          <a:xfrm>
            <a:off x="9322460" y="2837992"/>
            <a:ext cx="97536" cy="97536"/>
          </a:xfrm>
          <a:prstGeom prst="ellipse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Oval 123"/>
          <p:cNvSpPr/>
          <p:nvPr/>
        </p:nvSpPr>
        <p:spPr>
          <a:xfrm>
            <a:off x="9376105" y="2803855"/>
            <a:ext cx="117043" cy="117043"/>
          </a:xfrm>
          <a:prstGeom prst="ellipse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9444380" y="2842869"/>
            <a:ext cx="92659" cy="92659"/>
          </a:xfrm>
          <a:prstGeom prst="ellipse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ounded Rectangle 125"/>
          <p:cNvSpPr/>
          <p:nvPr/>
        </p:nvSpPr>
        <p:spPr>
          <a:xfrm>
            <a:off x="9337090" y="2886760"/>
            <a:ext cx="185318" cy="48768"/>
          </a:xfrm>
          <a:prstGeom prst="roundRect">
            <a:avLst>
              <a:gd name="adj" fmla="val 50000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TextBox 126"/>
          <p:cNvSpPr txBox="1"/>
          <p:nvPr/>
        </p:nvSpPr>
        <p:spPr>
          <a:xfrm>
            <a:off x="9721850" y="2654300"/>
            <a:ext cx="208915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1050" b="1">
                <a:solidFill>
                  <a:srgbClr val="0B7285"/>
                </a:solidFill>
              </a:rPr>
              <a:t>Cloud Landingzone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9721850" y="2844800"/>
            <a:ext cx="2089150" cy="139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868E96"/>
                </a:solidFill>
              </a:rPr>
              <a:t>built by C&amp;D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9239250" y="31242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TextBox 129"/>
          <p:cNvSpPr txBox="1"/>
          <p:nvPr/>
        </p:nvSpPr>
        <p:spPr>
          <a:xfrm>
            <a:off x="9315450" y="31242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Accounts &amp; subscriptions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9239250" y="33147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9315450" y="33147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Networking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9239250" y="35052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TextBox 133"/>
          <p:cNvSpPr txBox="1"/>
          <p:nvPr/>
        </p:nvSpPr>
        <p:spPr>
          <a:xfrm>
            <a:off x="9315450" y="35052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Identity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239250" y="3695700"/>
            <a:ext cx="2571750" cy="165100"/>
          </a:xfrm>
          <a:prstGeom prst="roundRect">
            <a:avLst>
              <a:gd name="adj" fmla="val 23076"/>
            </a:avLst>
          </a:prstGeom>
          <a:solidFill>
            <a:srgbClr val="EE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9315450" y="3695700"/>
            <a:ext cx="241935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Policies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54000" y="4305300"/>
            <a:ext cx="5334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868E96"/>
                </a:solidFill>
              </a:rPr>
              <a:t>3  ·  RESPONSIBILITY LAYER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048000" y="4305300"/>
            <a:ext cx="381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ADB5BD"/>
                </a:solidFill>
              </a:rPr>
              <a:t>who does what · colour = role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254000" y="4483100"/>
            <a:ext cx="11684000" cy="2120900"/>
          </a:xfrm>
          <a:prstGeom prst="roundRect">
            <a:avLst>
              <a:gd name="adj" fmla="val 3592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ounded Rectangle 139"/>
          <p:cNvSpPr/>
          <p:nvPr/>
        </p:nvSpPr>
        <p:spPr>
          <a:xfrm>
            <a:off x="1854200" y="4559300"/>
            <a:ext cx="2419350" cy="228600"/>
          </a:xfrm>
          <a:prstGeom prst="roundRect">
            <a:avLst>
              <a:gd name="adj" fmla="val 16666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TextBox 140"/>
          <p:cNvSpPr txBox="1"/>
          <p:nvPr/>
        </p:nvSpPr>
        <p:spPr>
          <a:xfrm>
            <a:off x="1955800" y="4559300"/>
            <a:ext cx="22161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FFFFFF"/>
                </a:solidFill>
              </a:rPr>
              <a:t>Platform Engineering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375150" y="4559300"/>
            <a:ext cx="2419350" cy="228600"/>
          </a:xfrm>
          <a:prstGeom prst="roundRect">
            <a:avLst>
              <a:gd name="adj" fmla="val 16666"/>
            </a:avLst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4476750" y="4559300"/>
            <a:ext cx="22161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FFFFFF"/>
                </a:solidFill>
              </a:rPr>
              <a:t>AI SDLC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896100" y="4559300"/>
            <a:ext cx="2419350" cy="228600"/>
          </a:xfrm>
          <a:prstGeom prst="roundRect">
            <a:avLst>
              <a:gd name="adj" fmla="val 16666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6997700" y="4559300"/>
            <a:ext cx="22161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FFFFFF"/>
                </a:solidFill>
              </a:rPr>
              <a:t>Observability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9417050" y="4559300"/>
            <a:ext cx="2419350" cy="228600"/>
          </a:xfrm>
          <a:prstGeom prst="roundRect">
            <a:avLst>
              <a:gd name="adj" fmla="val 16666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9518650" y="4559300"/>
            <a:ext cx="221615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FFFFFF"/>
                </a:solidFill>
              </a:rPr>
              <a:t>Cloud Landingzone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55600" y="4864100"/>
            <a:ext cx="1397000" cy="361950"/>
          </a:xfrm>
          <a:prstGeom prst="roundRect">
            <a:avLst>
              <a:gd name="adj" fmla="val 14035"/>
            </a:avLst>
          </a:prstGeom>
          <a:solidFill>
            <a:srgbClr val="E8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ounded Rectangle 148"/>
          <p:cNvSpPr/>
          <p:nvPr/>
        </p:nvSpPr>
        <p:spPr>
          <a:xfrm>
            <a:off x="355600" y="4864100"/>
            <a:ext cx="50800" cy="361950"/>
          </a:xfrm>
          <a:prstGeom prst="roundRect">
            <a:avLst>
              <a:gd name="adj" fmla="val 50000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TextBox 149"/>
          <p:cNvSpPr txBox="1"/>
          <p:nvPr/>
        </p:nvSpPr>
        <p:spPr>
          <a:xfrm>
            <a:off x="508000" y="4864100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Builds &amp; delivers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owns it as a product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1854200" y="4864100"/>
            <a:ext cx="2419350" cy="3619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Rounded Rectangle 151"/>
          <p:cNvSpPr/>
          <p:nvPr/>
        </p:nvSpPr>
        <p:spPr>
          <a:xfrm>
            <a:off x="1930400" y="4895850"/>
            <a:ext cx="2266950" cy="130175"/>
          </a:xfrm>
          <a:prstGeom prst="roundRect">
            <a:avLst>
              <a:gd name="adj" fmla="val 29268"/>
            </a:avLst>
          </a:prstGeom>
          <a:solidFill>
            <a:srgbClr val="E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ounded Rectangle 152"/>
          <p:cNvSpPr/>
          <p:nvPr/>
        </p:nvSpPr>
        <p:spPr>
          <a:xfrm>
            <a:off x="1930400" y="4895850"/>
            <a:ext cx="38100" cy="130175"/>
          </a:xfrm>
          <a:prstGeom prst="roundRect">
            <a:avLst>
              <a:gd name="adj" fmla="val 33333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2032000" y="4895850"/>
            <a:ext cx="2139950" cy="130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0B7285"/>
                </a:solidFill>
              </a:rPr>
              <a:t>C&amp;D · Platform Engineering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1930400" y="5064125"/>
            <a:ext cx="2266950" cy="130175"/>
          </a:xfrm>
          <a:prstGeom prst="roundRect">
            <a:avLst>
              <a:gd name="adj" fmla="val 29268"/>
            </a:avLst>
          </a:prstGeom>
          <a:solidFill>
            <a:srgbClr val="EF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ounded Rectangle 155"/>
          <p:cNvSpPr/>
          <p:nvPr/>
        </p:nvSpPr>
        <p:spPr>
          <a:xfrm>
            <a:off x="1930400" y="5064125"/>
            <a:ext cx="38100" cy="130175"/>
          </a:xfrm>
          <a:prstGeom prst="roundRect">
            <a:avLst>
              <a:gd name="adj" fmla="val 33333"/>
            </a:avLst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2032000" y="5064125"/>
            <a:ext cx="2139950" cy="130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5F3DC4"/>
                </a:solidFill>
              </a:rPr>
              <a:t>DA&amp;E · Automation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4375150" y="4864100"/>
            <a:ext cx="2419350" cy="3619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Rounded Rectangle 158"/>
          <p:cNvSpPr/>
          <p:nvPr/>
        </p:nvSpPr>
        <p:spPr>
          <a:xfrm>
            <a:off x="4451350" y="4876800"/>
            <a:ext cx="2266950" cy="86783"/>
          </a:xfrm>
          <a:prstGeom prst="roundRect">
            <a:avLst>
              <a:gd name="adj" fmla="val 43902"/>
            </a:avLst>
          </a:prstGeom>
          <a:solidFill>
            <a:srgbClr val="E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Rounded Rectangle 159"/>
          <p:cNvSpPr/>
          <p:nvPr/>
        </p:nvSpPr>
        <p:spPr>
          <a:xfrm>
            <a:off x="4451350" y="4876800"/>
            <a:ext cx="38100" cy="86783"/>
          </a:xfrm>
          <a:prstGeom prst="roundRect">
            <a:avLst>
              <a:gd name="adj" fmla="val 33333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4552950" y="4876800"/>
            <a:ext cx="2139950" cy="86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0B7285"/>
                </a:solidFill>
              </a:rPr>
              <a:t>C&amp;D · Cloud Engineering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4451350" y="5001683"/>
            <a:ext cx="2266950" cy="86783"/>
          </a:xfrm>
          <a:prstGeom prst="roundRect">
            <a:avLst>
              <a:gd name="adj" fmla="val 43902"/>
            </a:avLst>
          </a:prstGeom>
          <a:solidFill>
            <a:srgbClr val="E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Rounded Rectangle 162"/>
          <p:cNvSpPr/>
          <p:nvPr/>
        </p:nvSpPr>
        <p:spPr>
          <a:xfrm>
            <a:off x="4451350" y="5001683"/>
            <a:ext cx="38100" cy="86783"/>
          </a:xfrm>
          <a:prstGeom prst="roundRect">
            <a:avLst>
              <a:gd name="adj" fmla="val 33333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TextBox 163"/>
          <p:cNvSpPr txBox="1"/>
          <p:nvPr/>
        </p:nvSpPr>
        <p:spPr>
          <a:xfrm>
            <a:off x="4552950" y="5001683"/>
            <a:ext cx="2139950" cy="86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0B7285"/>
                </a:solidFill>
              </a:rPr>
              <a:t>C&amp;D · Platform Engineering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4451350" y="5126566"/>
            <a:ext cx="2266950" cy="86783"/>
          </a:xfrm>
          <a:prstGeom prst="roundRect">
            <a:avLst>
              <a:gd name="adj" fmla="val 43902"/>
            </a:avLst>
          </a:prstGeom>
          <a:solidFill>
            <a:srgbClr val="EF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ounded Rectangle 165"/>
          <p:cNvSpPr/>
          <p:nvPr/>
        </p:nvSpPr>
        <p:spPr>
          <a:xfrm>
            <a:off x="4451350" y="5126566"/>
            <a:ext cx="38100" cy="86783"/>
          </a:xfrm>
          <a:prstGeom prst="roundRect">
            <a:avLst>
              <a:gd name="adj" fmla="val 33333"/>
            </a:avLst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TextBox 166"/>
          <p:cNvSpPr txBox="1"/>
          <p:nvPr/>
        </p:nvSpPr>
        <p:spPr>
          <a:xfrm>
            <a:off x="4552950" y="5126566"/>
            <a:ext cx="2139950" cy="8678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5F3DC4"/>
                </a:solidFill>
              </a:rPr>
              <a:t>DA&amp;E · AI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6896100" y="4864100"/>
            <a:ext cx="2419350" cy="3619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ounded Rectangle 168"/>
          <p:cNvSpPr/>
          <p:nvPr/>
        </p:nvSpPr>
        <p:spPr>
          <a:xfrm>
            <a:off x="6972300" y="4895850"/>
            <a:ext cx="2266950" cy="130175"/>
          </a:xfrm>
          <a:prstGeom prst="roundRect">
            <a:avLst>
              <a:gd name="adj" fmla="val 29268"/>
            </a:avLst>
          </a:prstGeom>
          <a:solidFill>
            <a:srgbClr val="E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ounded Rectangle 169"/>
          <p:cNvSpPr/>
          <p:nvPr/>
        </p:nvSpPr>
        <p:spPr>
          <a:xfrm>
            <a:off x="6972300" y="4895850"/>
            <a:ext cx="38100" cy="130175"/>
          </a:xfrm>
          <a:prstGeom prst="roundRect">
            <a:avLst>
              <a:gd name="adj" fmla="val 33333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TextBox 170"/>
          <p:cNvSpPr txBox="1"/>
          <p:nvPr/>
        </p:nvSpPr>
        <p:spPr>
          <a:xfrm>
            <a:off x="7073900" y="4895850"/>
            <a:ext cx="2139950" cy="130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0B7285"/>
                </a:solidFill>
              </a:rPr>
              <a:t>C&amp;D · Platform Engineering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6972300" y="5064125"/>
            <a:ext cx="2266950" cy="130175"/>
          </a:xfrm>
          <a:prstGeom prst="roundRect">
            <a:avLst>
              <a:gd name="adj" fmla="val 29268"/>
            </a:avLst>
          </a:prstGeom>
          <a:solidFill>
            <a:srgbClr val="EF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ounded Rectangle 172"/>
          <p:cNvSpPr/>
          <p:nvPr/>
        </p:nvSpPr>
        <p:spPr>
          <a:xfrm>
            <a:off x="6972300" y="5064125"/>
            <a:ext cx="38100" cy="130175"/>
          </a:xfrm>
          <a:prstGeom prst="roundRect">
            <a:avLst>
              <a:gd name="adj" fmla="val 33333"/>
            </a:avLst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7073900" y="5064125"/>
            <a:ext cx="2139950" cy="130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5F3DC4"/>
                </a:solidFill>
              </a:rPr>
              <a:t>DA&amp;E · Data Platform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9417050" y="4864100"/>
            <a:ext cx="2419350" cy="3619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Rounded Rectangle 175"/>
          <p:cNvSpPr/>
          <p:nvPr/>
        </p:nvSpPr>
        <p:spPr>
          <a:xfrm>
            <a:off x="9493250" y="4937125"/>
            <a:ext cx="2266950" cy="215900"/>
          </a:xfrm>
          <a:prstGeom prst="roundRect">
            <a:avLst>
              <a:gd name="adj" fmla="val 17647"/>
            </a:avLst>
          </a:prstGeom>
          <a:solidFill>
            <a:srgbClr val="E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ounded Rectangle 176"/>
          <p:cNvSpPr/>
          <p:nvPr/>
        </p:nvSpPr>
        <p:spPr>
          <a:xfrm>
            <a:off x="9493250" y="4937125"/>
            <a:ext cx="38100" cy="215900"/>
          </a:xfrm>
          <a:prstGeom prst="roundRect">
            <a:avLst>
              <a:gd name="adj" fmla="val 33333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9594850" y="4937125"/>
            <a:ext cx="213995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0B7285"/>
                </a:solidFill>
              </a:rPr>
              <a:t>C&amp;D · Cloud Engineering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355600" y="5289550"/>
            <a:ext cx="1397000" cy="361950"/>
          </a:xfrm>
          <a:prstGeom prst="roundRect">
            <a:avLst>
              <a:gd name="adj" fmla="val 14035"/>
            </a:avLst>
          </a:prstGeom>
          <a:solidFill>
            <a:srgbClr val="E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ounded Rectangle 179"/>
          <p:cNvSpPr/>
          <p:nvPr/>
        </p:nvSpPr>
        <p:spPr>
          <a:xfrm>
            <a:off x="355600" y="5289550"/>
            <a:ext cx="50800" cy="361950"/>
          </a:xfrm>
          <a:prstGeom prst="roundRect">
            <a:avLst>
              <a:gd name="adj" fmla="val 5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TextBox 180"/>
          <p:cNvSpPr txBox="1"/>
          <p:nvPr/>
        </p:nvSpPr>
        <p:spPr>
          <a:xfrm>
            <a:off x="508000" y="5289550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0CA678"/>
                </a:solidFill>
              </a:rPr>
              <a:t>Uses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consumes it in delivery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854200" y="5289550"/>
            <a:ext cx="2419350" cy="3619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Rounded Rectangle 182"/>
          <p:cNvSpPr/>
          <p:nvPr/>
        </p:nvSpPr>
        <p:spPr>
          <a:xfrm>
            <a:off x="1930400" y="5362575"/>
            <a:ext cx="2266950" cy="215900"/>
          </a:xfrm>
          <a:prstGeom prst="roundRect">
            <a:avLst>
              <a:gd name="adj" fmla="val 17647"/>
            </a:avLst>
          </a:prstGeom>
          <a:solidFill>
            <a:srgbClr val="E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Rounded Rectangle 183"/>
          <p:cNvSpPr/>
          <p:nvPr/>
        </p:nvSpPr>
        <p:spPr>
          <a:xfrm>
            <a:off x="1930400" y="5362575"/>
            <a:ext cx="38100" cy="215900"/>
          </a:xfrm>
          <a:prstGeom prst="roundRect">
            <a:avLst>
              <a:gd name="adj" fmla="val 33333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TextBox 184"/>
          <p:cNvSpPr txBox="1"/>
          <p:nvPr/>
        </p:nvSpPr>
        <p:spPr>
          <a:xfrm>
            <a:off x="2032000" y="5362575"/>
            <a:ext cx="213995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0B7285"/>
                </a:solidFill>
              </a:rPr>
              <a:t>C&amp;D · Software Engineering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4375150" y="5289550"/>
            <a:ext cx="2419350" cy="3619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Rounded Rectangle 186"/>
          <p:cNvSpPr/>
          <p:nvPr/>
        </p:nvSpPr>
        <p:spPr>
          <a:xfrm>
            <a:off x="4451350" y="5362575"/>
            <a:ext cx="2266950" cy="215900"/>
          </a:xfrm>
          <a:prstGeom prst="roundRect">
            <a:avLst>
              <a:gd name="adj" fmla="val 17647"/>
            </a:avLst>
          </a:prstGeom>
          <a:solidFill>
            <a:srgbClr val="E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Rounded Rectangle 187"/>
          <p:cNvSpPr/>
          <p:nvPr/>
        </p:nvSpPr>
        <p:spPr>
          <a:xfrm>
            <a:off x="4451350" y="5362575"/>
            <a:ext cx="38100" cy="215900"/>
          </a:xfrm>
          <a:prstGeom prst="roundRect">
            <a:avLst>
              <a:gd name="adj" fmla="val 33333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TextBox 188"/>
          <p:cNvSpPr txBox="1"/>
          <p:nvPr/>
        </p:nvSpPr>
        <p:spPr>
          <a:xfrm>
            <a:off x="4552950" y="5362575"/>
            <a:ext cx="213995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0B7285"/>
                </a:solidFill>
              </a:rPr>
              <a:t>C&amp;D · Software Engineering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6896100" y="5289550"/>
            <a:ext cx="2419350" cy="3619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Rounded Rectangle 190"/>
          <p:cNvSpPr/>
          <p:nvPr/>
        </p:nvSpPr>
        <p:spPr>
          <a:xfrm>
            <a:off x="6972300" y="5321300"/>
            <a:ext cx="2266950" cy="130175"/>
          </a:xfrm>
          <a:prstGeom prst="roundRect">
            <a:avLst>
              <a:gd name="adj" fmla="val 29268"/>
            </a:avLst>
          </a:prstGeom>
          <a:solidFill>
            <a:srgbClr val="E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Rounded Rectangle 191"/>
          <p:cNvSpPr/>
          <p:nvPr/>
        </p:nvSpPr>
        <p:spPr>
          <a:xfrm>
            <a:off x="6972300" y="5321300"/>
            <a:ext cx="38100" cy="130175"/>
          </a:xfrm>
          <a:prstGeom prst="roundRect">
            <a:avLst>
              <a:gd name="adj" fmla="val 33333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TextBox 192"/>
          <p:cNvSpPr txBox="1"/>
          <p:nvPr/>
        </p:nvSpPr>
        <p:spPr>
          <a:xfrm>
            <a:off x="7073900" y="5321300"/>
            <a:ext cx="2139950" cy="130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0B7285"/>
                </a:solidFill>
              </a:rPr>
              <a:t>C&amp;D · Software Engineering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6972300" y="5489575"/>
            <a:ext cx="2266950" cy="130175"/>
          </a:xfrm>
          <a:prstGeom prst="roundRect">
            <a:avLst>
              <a:gd name="adj" fmla="val 29268"/>
            </a:avLst>
          </a:prstGeom>
          <a:solidFill>
            <a:srgbClr val="F6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Rounded Rectangle 194"/>
          <p:cNvSpPr/>
          <p:nvPr/>
        </p:nvSpPr>
        <p:spPr>
          <a:xfrm>
            <a:off x="6972300" y="5489575"/>
            <a:ext cx="38100" cy="130175"/>
          </a:xfrm>
          <a:prstGeom prst="roundRect">
            <a:avLst>
              <a:gd name="adj" fmla="val 33333"/>
            </a:avLst>
          </a:prstGeom>
          <a:solidFill>
            <a:srgbClr val="A61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TextBox 195"/>
          <p:cNvSpPr txBox="1"/>
          <p:nvPr/>
        </p:nvSpPr>
        <p:spPr>
          <a:xfrm>
            <a:off x="7073900" y="5489575"/>
            <a:ext cx="2139950" cy="130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A61E4D"/>
                </a:solidFill>
              </a:rPr>
              <a:t>S&amp;TT · Security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9417050" y="5289550"/>
            <a:ext cx="2419350" cy="3619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Rounded Rectangle 197"/>
          <p:cNvSpPr/>
          <p:nvPr/>
        </p:nvSpPr>
        <p:spPr>
          <a:xfrm>
            <a:off x="9493250" y="5321300"/>
            <a:ext cx="2266950" cy="130175"/>
          </a:xfrm>
          <a:prstGeom prst="roundRect">
            <a:avLst>
              <a:gd name="adj" fmla="val 29268"/>
            </a:avLst>
          </a:prstGeom>
          <a:solidFill>
            <a:srgbClr val="E7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Rounded Rectangle 198"/>
          <p:cNvSpPr/>
          <p:nvPr/>
        </p:nvSpPr>
        <p:spPr>
          <a:xfrm>
            <a:off x="9493250" y="5321300"/>
            <a:ext cx="38100" cy="130175"/>
          </a:xfrm>
          <a:prstGeom prst="roundRect">
            <a:avLst>
              <a:gd name="adj" fmla="val 33333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TextBox 199"/>
          <p:cNvSpPr txBox="1"/>
          <p:nvPr/>
        </p:nvSpPr>
        <p:spPr>
          <a:xfrm>
            <a:off x="9594850" y="5321300"/>
            <a:ext cx="2139950" cy="130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0B7285"/>
                </a:solidFill>
              </a:rPr>
              <a:t>C&amp;D · Platform Engineering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9493250" y="5489575"/>
            <a:ext cx="2266950" cy="130175"/>
          </a:xfrm>
          <a:prstGeom prst="roundRect">
            <a:avLst>
              <a:gd name="adj" fmla="val 29268"/>
            </a:avLst>
          </a:prstGeom>
          <a:solidFill>
            <a:srgbClr val="EFEC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Rounded Rectangle 201"/>
          <p:cNvSpPr/>
          <p:nvPr/>
        </p:nvSpPr>
        <p:spPr>
          <a:xfrm>
            <a:off x="9493250" y="5489575"/>
            <a:ext cx="38100" cy="130175"/>
          </a:xfrm>
          <a:prstGeom prst="roundRect">
            <a:avLst>
              <a:gd name="adj" fmla="val 33333"/>
            </a:avLst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TextBox 202"/>
          <p:cNvSpPr txBox="1"/>
          <p:nvPr/>
        </p:nvSpPr>
        <p:spPr>
          <a:xfrm>
            <a:off x="9594850" y="5489575"/>
            <a:ext cx="2139950" cy="130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5F3DC4"/>
                </a:solidFill>
              </a:rPr>
              <a:t>DA&amp;E · Data Platform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355600" y="5715000"/>
            <a:ext cx="1397000" cy="361950"/>
          </a:xfrm>
          <a:prstGeom prst="roundRect">
            <a:avLst>
              <a:gd name="adj" fmla="val 14035"/>
            </a:avLst>
          </a:prstGeom>
          <a:solidFill>
            <a:srgbClr val="FD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Rounded Rectangle 204"/>
          <p:cNvSpPr/>
          <p:nvPr/>
        </p:nvSpPr>
        <p:spPr>
          <a:xfrm>
            <a:off x="355600" y="5715000"/>
            <a:ext cx="50800" cy="361950"/>
          </a:xfrm>
          <a:prstGeom prst="roundRect">
            <a:avLst>
              <a:gd name="adj" fmla="val 5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TextBox 205"/>
          <p:cNvSpPr txBox="1"/>
          <p:nvPr/>
        </p:nvSpPr>
        <p:spPr>
          <a:xfrm>
            <a:off x="508000" y="5715000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E8590C"/>
                </a:solidFill>
              </a:rPr>
              <a:t>Governs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sets policy and controls</a:t>
            </a:r>
          </a:p>
        </p:txBody>
      </p:sp>
      <p:sp>
        <p:nvSpPr>
          <p:cNvPr id="207" name="Rounded Rectangle 206"/>
          <p:cNvSpPr/>
          <p:nvPr/>
        </p:nvSpPr>
        <p:spPr>
          <a:xfrm>
            <a:off x="1854200" y="5715000"/>
            <a:ext cx="2419350" cy="3619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TextBox 207"/>
          <p:cNvSpPr txBox="1"/>
          <p:nvPr/>
        </p:nvSpPr>
        <p:spPr>
          <a:xfrm>
            <a:off x="1854200" y="5715000"/>
            <a:ext cx="241935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152"/>
              </a:lnSpc>
            </a:pPr>
            <a:r>
              <a:rPr sz="900" b="0">
                <a:solidFill>
                  <a:srgbClr val="CED4DA"/>
                </a:solidFill>
              </a:rPr>
              <a:t>–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4375150" y="5715000"/>
            <a:ext cx="2419350" cy="3619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Rounded Rectangle 209"/>
          <p:cNvSpPr/>
          <p:nvPr/>
        </p:nvSpPr>
        <p:spPr>
          <a:xfrm>
            <a:off x="4451350" y="5788025"/>
            <a:ext cx="2266950" cy="215900"/>
          </a:xfrm>
          <a:prstGeom prst="roundRect">
            <a:avLst>
              <a:gd name="adj" fmla="val 17647"/>
            </a:avLst>
          </a:prstGeom>
          <a:solidFill>
            <a:srgbClr val="F6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Rounded Rectangle 210"/>
          <p:cNvSpPr/>
          <p:nvPr/>
        </p:nvSpPr>
        <p:spPr>
          <a:xfrm>
            <a:off x="4451350" y="5788025"/>
            <a:ext cx="38100" cy="215900"/>
          </a:xfrm>
          <a:prstGeom prst="roundRect">
            <a:avLst>
              <a:gd name="adj" fmla="val 33333"/>
            </a:avLst>
          </a:prstGeom>
          <a:solidFill>
            <a:srgbClr val="A61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TextBox 211"/>
          <p:cNvSpPr txBox="1"/>
          <p:nvPr/>
        </p:nvSpPr>
        <p:spPr>
          <a:xfrm>
            <a:off x="4552950" y="5788025"/>
            <a:ext cx="213995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A61E4D"/>
                </a:solidFill>
              </a:rPr>
              <a:t>S&amp;TT · Security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6896100" y="5715000"/>
            <a:ext cx="2419350" cy="3619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TextBox 213"/>
          <p:cNvSpPr txBox="1"/>
          <p:nvPr/>
        </p:nvSpPr>
        <p:spPr>
          <a:xfrm>
            <a:off x="6896100" y="5715000"/>
            <a:ext cx="241935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152"/>
              </a:lnSpc>
            </a:pPr>
            <a:r>
              <a:rPr sz="900" b="0">
                <a:solidFill>
                  <a:srgbClr val="CED4DA"/>
                </a:solidFill>
              </a:rPr>
              <a:t>–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9417050" y="5715000"/>
            <a:ext cx="2419350" cy="3619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Rounded Rectangle 215"/>
          <p:cNvSpPr/>
          <p:nvPr/>
        </p:nvSpPr>
        <p:spPr>
          <a:xfrm>
            <a:off x="9493250" y="5788025"/>
            <a:ext cx="2266950" cy="215900"/>
          </a:xfrm>
          <a:prstGeom prst="roundRect">
            <a:avLst>
              <a:gd name="adj" fmla="val 17647"/>
            </a:avLst>
          </a:prstGeom>
          <a:solidFill>
            <a:srgbClr val="F6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Rounded Rectangle 216"/>
          <p:cNvSpPr/>
          <p:nvPr/>
        </p:nvSpPr>
        <p:spPr>
          <a:xfrm>
            <a:off x="9493250" y="5788025"/>
            <a:ext cx="38100" cy="215900"/>
          </a:xfrm>
          <a:prstGeom prst="roundRect">
            <a:avLst>
              <a:gd name="adj" fmla="val 33333"/>
            </a:avLst>
          </a:prstGeom>
          <a:solidFill>
            <a:srgbClr val="A61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TextBox 217"/>
          <p:cNvSpPr txBox="1"/>
          <p:nvPr/>
        </p:nvSpPr>
        <p:spPr>
          <a:xfrm>
            <a:off x="9594850" y="5788025"/>
            <a:ext cx="213995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A61E4D"/>
                </a:solidFill>
              </a:rPr>
              <a:t>S&amp;TT · Security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355600" y="6140450"/>
            <a:ext cx="1397000" cy="361950"/>
          </a:xfrm>
          <a:prstGeom prst="roundRect">
            <a:avLst>
              <a:gd name="adj" fmla="val 14035"/>
            </a:avLst>
          </a:prstGeom>
          <a:solidFill>
            <a:srgbClr val="F1ED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Rounded Rectangle 219"/>
          <p:cNvSpPr/>
          <p:nvPr/>
        </p:nvSpPr>
        <p:spPr>
          <a:xfrm>
            <a:off x="355600" y="6140450"/>
            <a:ext cx="50800" cy="361950"/>
          </a:xfrm>
          <a:prstGeom prst="roundRect">
            <a:avLst>
              <a:gd name="adj" fmla="val 50000"/>
            </a:avLst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TextBox 220"/>
          <p:cNvSpPr txBox="1"/>
          <p:nvPr/>
        </p:nvSpPr>
        <p:spPr>
          <a:xfrm>
            <a:off x="508000" y="6140450"/>
            <a:ext cx="1143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7048E8"/>
                </a:solidFill>
              </a:rPr>
              <a:t>Drives adoption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rollout, enablement, uptake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854200" y="6140450"/>
            <a:ext cx="2419350" cy="3619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Rounded Rectangle 222"/>
          <p:cNvSpPr/>
          <p:nvPr/>
        </p:nvSpPr>
        <p:spPr>
          <a:xfrm>
            <a:off x="1930400" y="6213475"/>
            <a:ext cx="2266950" cy="215900"/>
          </a:xfrm>
          <a:prstGeom prst="roundRect">
            <a:avLst>
              <a:gd name="adj" fmla="val 17647"/>
            </a:avLst>
          </a:prstGeom>
          <a:solidFill>
            <a:srgbClr val="F6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Rounded Rectangle 223"/>
          <p:cNvSpPr/>
          <p:nvPr/>
        </p:nvSpPr>
        <p:spPr>
          <a:xfrm>
            <a:off x="1930400" y="6213475"/>
            <a:ext cx="38100" cy="215900"/>
          </a:xfrm>
          <a:prstGeom prst="roundRect">
            <a:avLst>
              <a:gd name="adj" fmla="val 33333"/>
            </a:avLst>
          </a:prstGeom>
          <a:solidFill>
            <a:srgbClr val="A61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TextBox 224"/>
          <p:cNvSpPr txBox="1"/>
          <p:nvPr/>
        </p:nvSpPr>
        <p:spPr>
          <a:xfrm>
            <a:off x="2032000" y="6213475"/>
            <a:ext cx="213995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A61E4D"/>
                </a:solidFill>
              </a:rPr>
              <a:t>S&amp;TT · Adoption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4375150" y="6140450"/>
            <a:ext cx="2419350" cy="3619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Rounded Rectangle 226"/>
          <p:cNvSpPr/>
          <p:nvPr/>
        </p:nvSpPr>
        <p:spPr>
          <a:xfrm>
            <a:off x="4451350" y="6213475"/>
            <a:ext cx="2266950" cy="215900"/>
          </a:xfrm>
          <a:prstGeom prst="roundRect">
            <a:avLst>
              <a:gd name="adj" fmla="val 17647"/>
            </a:avLst>
          </a:prstGeom>
          <a:solidFill>
            <a:srgbClr val="F6E8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Rounded Rectangle 227"/>
          <p:cNvSpPr/>
          <p:nvPr/>
        </p:nvSpPr>
        <p:spPr>
          <a:xfrm>
            <a:off x="4451350" y="6213475"/>
            <a:ext cx="38100" cy="215900"/>
          </a:xfrm>
          <a:prstGeom prst="roundRect">
            <a:avLst>
              <a:gd name="adj" fmla="val 33333"/>
            </a:avLst>
          </a:prstGeom>
          <a:solidFill>
            <a:srgbClr val="A61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9" name="TextBox 228"/>
          <p:cNvSpPr txBox="1"/>
          <p:nvPr/>
        </p:nvSpPr>
        <p:spPr>
          <a:xfrm>
            <a:off x="4552950" y="6213475"/>
            <a:ext cx="213995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896"/>
              </a:lnSpc>
            </a:pPr>
            <a:r>
              <a:rPr sz="700" b="1">
                <a:solidFill>
                  <a:srgbClr val="A61E4D"/>
                </a:solidFill>
              </a:rPr>
              <a:t>S&amp;TT · Adoption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6896100" y="6140450"/>
            <a:ext cx="2419350" cy="3619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TextBox 230"/>
          <p:cNvSpPr txBox="1"/>
          <p:nvPr/>
        </p:nvSpPr>
        <p:spPr>
          <a:xfrm>
            <a:off x="6896100" y="6140450"/>
            <a:ext cx="241935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152"/>
              </a:lnSpc>
            </a:pPr>
            <a:r>
              <a:rPr sz="900" b="0">
                <a:solidFill>
                  <a:srgbClr val="CED4DA"/>
                </a:solidFill>
              </a:rPr>
              <a:t>–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9417050" y="6140450"/>
            <a:ext cx="2419350" cy="361950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TextBox 232"/>
          <p:cNvSpPr txBox="1"/>
          <p:nvPr/>
        </p:nvSpPr>
        <p:spPr>
          <a:xfrm>
            <a:off x="9417050" y="6140450"/>
            <a:ext cx="241935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152"/>
              </a:lnSpc>
            </a:pPr>
            <a:r>
              <a:rPr sz="900" b="0">
                <a:solidFill>
                  <a:srgbClr val="CED4DA"/>
                </a:solidFill>
              </a:rPr>
              <a:t>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343640" y="2794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A61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508740" y="254000"/>
            <a:ext cx="46735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S&amp;TT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749280" y="2794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914380" y="254000"/>
            <a:ext cx="467359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DA&amp;E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220960" y="2794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386060" y="254000"/>
            <a:ext cx="4013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C&amp;D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000" y="177800"/>
            <a:ext cx="971296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212529"/>
                </a:solidFill>
              </a:rPr>
              <a:t>How it fits together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000" y="469900"/>
            <a:ext cx="79756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0">
                <a:solidFill>
                  <a:srgbClr val="868E96"/>
                </a:solidFill>
              </a:rPr>
              <a:t>Software engineering uses both · everything runs on the landing zone · observability and security cut across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000" y="812800"/>
            <a:ext cx="6680200" cy="584200"/>
          </a:xfrm>
          <a:prstGeom prst="roundRect">
            <a:avLst>
              <a:gd name="adj" fmla="val 10869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81000" y="914400"/>
            <a:ext cx="330200" cy="330200"/>
          </a:xfrm>
          <a:prstGeom prst="ellipse">
            <a:avLst/>
          </a:prstGeom>
          <a:solidFill>
            <a:srgbClr val="DD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4248" y="1007648"/>
            <a:ext cx="63398" cy="63398"/>
          </a:xfrm>
          <a:prstGeom prst="roundRect">
            <a:avLst>
              <a:gd name="adj" fmla="val 20000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54553" y="1007648"/>
            <a:ext cx="63398" cy="63398"/>
          </a:xfrm>
          <a:prstGeom prst="roundRect">
            <a:avLst>
              <a:gd name="adj" fmla="val 20000"/>
            </a:avLst>
          </a:prstGeom>
          <a:solidFill>
            <a:srgbClr val="79B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74248" y="1087953"/>
            <a:ext cx="63398" cy="63398"/>
          </a:xfrm>
          <a:prstGeom prst="roundRect">
            <a:avLst>
              <a:gd name="adj" fmla="val 20000"/>
            </a:avLst>
          </a:prstGeom>
          <a:solidFill>
            <a:srgbClr val="79B1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554553" y="1087953"/>
            <a:ext cx="63398" cy="63398"/>
          </a:xfrm>
          <a:prstGeom prst="roundRect">
            <a:avLst>
              <a:gd name="adj" fmla="val 20000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12800" y="901700"/>
            <a:ext cx="5994400" cy="406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8"/>
              </a:lnSpc>
            </a:pPr>
            <a:r>
              <a:rPr sz="1100" b="1">
                <a:solidFill>
                  <a:srgbClr val="FFFFFF"/>
                </a:solidFill>
              </a:rPr>
              <a:t>Software Engineering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CEE3E7"/>
                </a:solidFill>
              </a:rPr>
              <a:t>Builds and maintains the applications — uses both the platform and the AI SDLC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832356" y="1473200"/>
            <a:ext cx="228600" cy="304800"/>
          </a:xfrm>
          <a:prstGeom prst="downArrow">
            <a:avLst/>
          </a:prstGeom>
          <a:solidFill>
            <a:srgbClr val="91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099056" y="1536700"/>
            <a:ext cx="7620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960"/>
              </a:lnSpc>
            </a:pPr>
            <a:r>
              <a:rPr sz="750" b="0">
                <a:solidFill>
                  <a:srgbClr val="868E96"/>
                </a:solidFill>
              </a:rPr>
              <a:t>uses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528056" y="1473200"/>
            <a:ext cx="228600" cy="304800"/>
          </a:xfrm>
          <a:prstGeom prst="downArrow">
            <a:avLst/>
          </a:prstGeom>
          <a:solidFill>
            <a:srgbClr val="91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794756" y="1536700"/>
            <a:ext cx="7620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960"/>
              </a:lnSpc>
            </a:pPr>
            <a:r>
              <a:rPr sz="750" b="0">
                <a:solidFill>
                  <a:srgbClr val="868E96"/>
                </a:solidFill>
              </a:rPr>
              <a:t>uses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4000" y="1854200"/>
            <a:ext cx="3385312" cy="2844800"/>
          </a:xfrm>
          <a:prstGeom prst="roundRect">
            <a:avLst>
              <a:gd name="adj" fmla="val 2232"/>
            </a:avLst>
          </a:prstGeom>
          <a:solidFill>
            <a:srgbClr val="EEF5F6"/>
          </a:solidFill>
          <a:ln w="9525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381000" y="1955800"/>
            <a:ext cx="330200" cy="330200"/>
          </a:xfrm>
          <a:prstGeom prst="ellipse">
            <a:avLst/>
          </a:prstGeom>
          <a:solidFill>
            <a:srgbClr val="DD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461568" y="2057501"/>
            <a:ext cx="169062" cy="29585"/>
          </a:xfrm>
          <a:prstGeom prst="roundRect">
            <a:avLst>
              <a:gd name="adj" fmla="val 35714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74248" y="2103993"/>
            <a:ext cx="143703" cy="29585"/>
          </a:xfrm>
          <a:prstGeom prst="roundRect">
            <a:avLst>
              <a:gd name="adj" fmla="val 35714"/>
            </a:avLst>
          </a:prstGeom>
          <a:solidFill>
            <a:srgbClr val="60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86928" y="2150485"/>
            <a:ext cx="118343" cy="29585"/>
          </a:xfrm>
          <a:prstGeom prst="roundRect">
            <a:avLst>
              <a:gd name="adj" fmla="val 35714"/>
            </a:avLst>
          </a:prstGeom>
          <a:solidFill>
            <a:srgbClr val="B6D5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2800" y="1943100"/>
            <a:ext cx="2699512" cy="266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6"/>
              </a:lnSpc>
            </a:pPr>
            <a:r>
              <a:rPr sz="1200" b="1">
                <a:solidFill>
                  <a:srgbClr val="0B7285"/>
                </a:solidFill>
              </a:rPr>
              <a:t>Platform Engineering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1000" y="2641600"/>
            <a:ext cx="1514856" cy="736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79B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82600" y="2641600"/>
            <a:ext cx="1311656" cy="736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Containers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97456" y="2641600"/>
            <a:ext cx="1514856" cy="736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79B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099056" y="2641600"/>
            <a:ext cx="1311656" cy="736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Version control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1000" y="3479800"/>
            <a:ext cx="1514856" cy="736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79B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82600" y="3479800"/>
            <a:ext cx="1311656" cy="736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Pipelines &amp; CI/CD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97456" y="3479800"/>
            <a:ext cx="1514856" cy="736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79B1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099056" y="3479800"/>
            <a:ext cx="1311656" cy="736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Reporting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50512" y="1854200"/>
            <a:ext cx="2583688" cy="2844800"/>
          </a:xfrm>
          <a:prstGeom prst="roundRect">
            <a:avLst>
              <a:gd name="adj" fmla="val 2457"/>
            </a:avLst>
          </a:prstGeom>
          <a:solidFill>
            <a:srgbClr val="F4F1FB"/>
          </a:solidFill>
          <a:ln w="9525">
            <a:solidFill>
              <a:srgbClr val="5F3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4477512" y="1955800"/>
            <a:ext cx="330200" cy="330200"/>
          </a:xfrm>
          <a:prstGeom prst="ellipse">
            <a:avLst/>
          </a:prstGeom>
          <a:solidFill>
            <a:srgbClr val="E9E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4629932" y="2032142"/>
            <a:ext cx="25359" cy="25359"/>
          </a:xfrm>
          <a:prstGeom prst="ellipse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4640498" y="2049048"/>
            <a:ext cx="4226" cy="21132"/>
          </a:xfrm>
          <a:prstGeom prst="rect">
            <a:avLst/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4570760" y="2070181"/>
            <a:ext cx="143703" cy="109890"/>
          </a:xfrm>
          <a:prstGeom prst="roundRect">
            <a:avLst>
              <a:gd name="adj" fmla="val 26923"/>
            </a:avLst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4600346" y="2103993"/>
            <a:ext cx="27472" cy="274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4657404" y="2103993"/>
            <a:ext cx="27472" cy="2747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4608799" y="2146259"/>
            <a:ext cx="67624" cy="1267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909312" y="1943100"/>
            <a:ext cx="1897888" cy="2667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36"/>
              </a:lnSpc>
            </a:pPr>
            <a:r>
              <a:rPr sz="1200" b="1">
                <a:solidFill>
                  <a:srgbClr val="5F3DC4"/>
                </a:solidFill>
              </a:rPr>
              <a:t>AI SDLC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77512" y="2286000"/>
            <a:ext cx="2329688" cy="37592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9525">
            <a:solidFill>
              <a:srgbClr val="A79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579112" y="2286000"/>
            <a:ext cx="2126488" cy="375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Agents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77512" y="2763520"/>
            <a:ext cx="2329688" cy="37592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9525">
            <a:solidFill>
              <a:srgbClr val="A79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4579112" y="2763520"/>
            <a:ext cx="2126488" cy="375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Flows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77512" y="3241040"/>
            <a:ext cx="2329688" cy="37592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9525">
            <a:solidFill>
              <a:srgbClr val="A79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4579112" y="3241040"/>
            <a:ext cx="2126488" cy="375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Skills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477512" y="3718560"/>
            <a:ext cx="2329688" cy="37592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9525">
            <a:solidFill>
              <a:srgbClr val="A79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579112" y="3718560"/>
            <a:ext cx="2126488" cy="375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MCP integration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77512" y="4196080"/>
            <a:ext cx="2329688" cy="375920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 w="9525">
            <a:solidFill>
              <a:srgbClr val="A79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4579112" y="4196080"/>
            <a:ext cx="2126488" cy="375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Guardrails</a:t>
            </a:r>
          </a:p>
        </p:txBody>
      </p:sp>
      <p:sp>
        <p:nvSpPr>
          <p:cNvPr id="54" name="Left-Right Arrow 53"/>
          <p:cNvSpPr/>
          <p:nvPr/>
        </p:nvSpPr>
        <p:spPr>
          <a:xfrm>
            <a:off x="3766312" y="3136900"/>
            <a:ext cx="457200" cy="279400"/>
          </a:xfrm>
          <a:prstGeom prst="leftRightArrow">
            <a:avLst/>
          </a:prstGeom>
          <a:solidFill>
            <a:srgbClr val="C1C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3639312" y="3454400"/>
            <a:ext cx="711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896"/>
              </a:lnSpc>
            </a:pPr>
            <a:r>
              <a:rPr sz="700" b="0">
                <a:solidFill>
                  <a:srgbClr val="868E96"/>
                </a:solidFill>
              </a:rPr>
              <a:t>integrates with</a:t>
            </a:r>
          </a:p>
        </p:txBody>
      </p:sp>
      <p:sp>
        <p:nvSpPr>
          <p:cNvPr id="56" name="Down Arrow 55"/>
          <p:cNvSpPr/>
          <p:nvPr/>
        </p:nvSpPr>
        <p:spPr>
          <a:xfrm>
            <a:off x="3479800" y="4724400"/>
            <a:ext cx="228600" cy="254000"/>
          </a:xfrm>
          <a:prstGeom prst="downArrow">
            <a:avLst/>
          </a:prstGeom>
          <a:solidFill>
            <a:srgbClr val="91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746500" y="4762500"/>
            <a:ext cx="8890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960"/>
              </a:lnSpc>
            </a:pPr>
            <a:r>
              <a:rPr sz="750" b="0">
                <a:solidFill>
                  <a:srgbClr val="868E96"/>
                </a:solidFill>
              </a:rPr>
              <a:t>deploys 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4000" y="5029200"/>
            <a:ext cx="6680200" cy="558800"/>
          </a:xfrm>
          <a:prstGeom prst="roundRect">
            <a:avLst>
              <a:gd name="adj" fmla="val 11363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381000" y="5130800"/>
            <a:ext cx="330200" cy="330200"/>
          </a:xfrm>
          <a:prstGeom prst="ellipse">
            <a:avLst/>
          </a:prstGeom>
          <a:solidFill>
            <a:srgbClr val="DD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453115" y="5278993"/>
            <a:ext cx="84531" cy="84531"/>
          </a:xfrm>
          <a:prstGeom prst="ellipse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499607" y="5249407"/>
            <a:ext cx="101437" cy="101437"/>
          </a:xfrm>
          <a:prstGeom prst="ellipse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558779" y="5283220"/>
            <a:ext cx="80304" cy="80304"/>
          </a:xfrm>
          <a:prstGeom prst="ellipse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465795" y="5321259"/>
            <a:ext cx="160609" cy="42265"/>
          </a:xfrm>
          <a:prstGeom prst="roundRect">
            <a:avLst>
              <a:gd name="adj" fmla="val 50000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12800" y="5118100"/>
            <a:ext cx="5994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08"/>
              </a:lnSpc>
            </a:pPr>
            <a:r>
              <a:rPr sz="1100" b="1">
                <a:solidFill>
                  <a:srgbClr val="FFFFFF"/>
                </a:solidFill>
              </a:rPr>
              <a:t>Cloud Landingzone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CEE3E7"/>
                </a:solidFill>
              </a:rPr>
              <a:t>Everything is deployed on it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86600" y="812800"/>
            <a:ext cx="990600" cy="4775200"/>
          </a:xfrm>
          <a:prstGeom prst="roundRect">
            <a:avLst>
              <a:gd name="adj" fmla="val 6410"/>
            </a:avLst>
          </a:prstGeom>
          <a:solidFill>
            <a:srgbClr val="EBF4F5"/>
          </a:solidFill>
          <a:ln w="9525">
            <a:solidFill>
              <a:srgbClr val="0B7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7416800" y="914400"/>
            <a:ext cx="330200" cy="330200"/>
          </a:xfrm>
          <a:prstGeom prst="ellipse">
            <a:avLst/>
          </a:prstGeom>
          <a:solidFill>
            <a:srgbClr val="DD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7488915" y="1028781"/>
            <a:ext cx="185968" cy="101437"/>
          </a:xfrm>
          <a:prstGeom prst="ellipse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7539634" y="1041460"/>
            <a:ext cx="84531" cy="7607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7556540" y="1054140"/>
            <a:ext cx="50718" cy="50718"/>
          </a:xfrm>
          <a:prstGeom prst="ellipse">
            <a:avLst/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188200" y="1320800"/>
            <a:ext cx="787400" cy="152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16"/>
              </a:lnSpc>
            </a:pPr>
            <a:r>
              <a:rPr sz="950" b="1">
                <a:solidFill>
                  <a:srgbClr val="0B7285"/>
                </a:solidFill>
              </a:rPr>
              <a:t>Observability</a:t>
            </a:r>
          </a:p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Monitors the AI</a:t>
            </a:r>
          </a:p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SDLC, the platform</a:t>
            </a:r>
          </a:p>
          <a:p>
            <a:pPr algn="l">
              <a:lnSpc>
                <a:spcPts val="896"/>
              </a:lnSpc>
            </a:pPr>
            <a:r>
              <a:rPr sz="700" b="0">
                <a:solidFill>
                  <a:srgbClr val="212529"/>
                </a:solidFill>
              </a:rPr>
              <a:t>and the cloud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54000" y="5715000"/>
            <a:ext cx="7823200" cy="508000"/>
          </a:xfrm>
          <a:prstGeom prst="roundRect">
            <a:avLst>
              <a:gd name="adj" fmla="val 12500"/>
            </a:avLst>
          </a:prstGeom>
          <a:solidFill>
            <a:srgbClr val="F8EDF1"/>
          </a:solidFill>
          <a:ln w="9525">
            <a:solidFill>
              <a:srgbClr val="A61E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381000" y="5803900"/>
            <a:ext cx="330200" cy="330200"/>
          </a:xfrm>
          <a:prstGeom prst="ellipse">
            <a:avLst/>
          </a:prstGeom>
          <a:solidFill>
            <a:srgbClr val="F3E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ounded Rectangle 72"/>
          <p:cNvSpPr/>
          <p:nvPr/>
        </p:nvSpPr>
        <p:spPr>
          <a:xfrm>
            <a:off x="478475" y="5892921"/>
            <a:ext cx="135249" cy="97210"/>
          </a:xfrm>
          <a:prstGeom prst="roundRect">
            <a:avLst>
              <a:gd name="adj" fmla="val 13043"/>
            </a:avLst>
          </a:prstGeom>
          <a:solidFill>
            <a:srgbClr val="A61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478475" y="5926734"/>
            <a:ext cx="135249" cy="122570"/>
          </a:xfrm>
          <a:prstGeom prst="ellipse">
            <a:avLst/>
          </a:prstGeom>
          <a:solidFill>
            <a:srgbClr val="A61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531307" y="5943640"/>
            <a:ext cx="29585" cy="2958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539760" y="5960546"/>
            <a:ext cx="12679" cy="338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838200" y="5791200"/>
            <a:ext cx="7086600" cy="355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16"/>
              </a:lnSpc>
            </a:pPr>
            <a:r>
              <a:rPr sz="950" b="1">
                <a:solidFill>
                  <a:srgbClr val="A61E4D"/>
                </a:solidFill>
              </a:rPr>
              <a:t>Security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Governs every layer — policies, controls and the requirements behind the guardrails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229600" y="812800"/>
            <a:ext cx="3708400" cy="5791200"/>
          </a:xfrm>
          <a:prstGeom prst="roundRect">
            <a:avLst>
              <a:gd name="adj" fmla="val 1712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8382000" y="914400"/>
            <a:ext cx="34036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1000" b="1">
                <a:solidFill>
                  <a:srgbClr val="212529"/>
                </a:solidFill>
              </a:rPr>
              <a:t>Responsibilities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82000" y="1092200"/>
            <a:ext cx="3403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60"/>
              </a:lnSpc>
            </a:pPr>
            <a:r>
              <a:rPr sz="750" b="0">
                <a:solidFill>
                  <a:srgbClr val="868E96"/>
                </a:solidFill>
              </a:rPr>
              <a:t>who builds it, who uses it, who governs it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82000" y="1270000"/>
            <a:ext cx="3403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212529"/>
                </a:solidFill>
              </a:rPr>
              <a:t>Platform Engineering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407400" y="1447800"/>
            <a:ext cx="31750" cy="189230"/>
          </a:xfrm>
          <a:prstGeom prst="roundRect">
            <a:avLst>
              <a:gd name="adj" fmla="val 40000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8509000" y="1435100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1C7ED6"/>
                </a:solidFill>
              </a:rPr>
              <a:t>C&amp;D · Platform Engineering — builds &amp; delivers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Builds and runs the developer platform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407400" y="1681480"/>
            <a:ext cx="31750" cy="189230"/>
          </a:xfrm>
          <a:prstGeom prst="roundRect">
            <a:avLst>
              <a:gd name="adj" fmla="val 4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8509000" y="1668780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0CA678"/>
                </a:solidFill>
              </a:rPr>
              <a:t>C&amp;D · Software Engineering — uses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Builds and maintains applications on it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407400" y="1915160"/>
            <a:ext cx="31750" cy="189230"/>
          </a:xfrm>
          <a:prstGeom prst="roundRect">
            <a:avLst>
              <a:gd name="adj" fmla="val 40000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8509000" y="1902460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1C7ED6"/>
                </a:solidFill>
              </a:rPr>
              <a:t>DA&amp;E · Automation — builds &amp; delivers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Automation building blocks (assumed)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407400" y="2148840"/>
            <a:ext cx="31750" cy="189230"/>
          </a:xfrm>
          <a:prstGeom prst="roundRect">
            <a:avLst>
              <a:gd name="adj" fmla="val 40000"/>
            </a:avLst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8509000" y="2136140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7048E8"/>
                </a:solidFill>
              </a:rPr>
              <a:t>S&amp;TT · Adoption — drives adoption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Onboarding of teams onto the platform (assumed)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82000" y="2401570"/>
            <a:ext cx="3403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212529"/>
                </a:solidFill>
              </a:rPr>
              <a:t>AI SDLC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407400" y="2579370"/>
            <a:ext cx="31750" cy="189230"/>
          </a:xfrm>
          <a:prstGeom prst="roundRect">
            <a:avLst>
              <a:gd name="adj" fmla="val 40000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8509000" y="2566670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1C7ED6"/>
                </a:solidFill>
              </a:rPr>
              <a:t>C&amp;D · Cloud Engineering — builds &amp; delivers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Delivers the cloud platform the AI SDLC runs on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8407400" y="2813050"/>
            <a:ext cx="31750" cy="189230"/>
          </a:xfrm>
          <a:prstGeom prst="roundRect">
            <a:avLst>
              <a:gd name="adj" fmla="val 40000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8509000" y="2800350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1C7ED6"/>
                </a:solidFill>
              </a:rPr>
              <a:t>C&amp;D · Platform Engineering — builds &amp; delivers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Pipelines, tooling and golden paths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407400" y="3046730"/>
            <a:ext cx="31750" cy="189230"/>
          </a:xfrm>
          <a:prstGeom prst="roundRect">
            <a:avLst>
              <a:gd name="adj" fmla="val 4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8509000" y="3034030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0CA678"/>
                </a:solidFill>
              </a:rPr>
              <a:t>C&amp;D · Software Engineering — uses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Uses the AI SDLC and platform to build and maintain applications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407400" y="3280410"/>
            <a:ext cx="31750" cy="189230"/>
          </a:xfrm>
          <a:prstGeom prst="roundRect">
            <a:avLst>
              <a:gd name="adj" fmla="val 40000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8509000" y="3267710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1C7ED6"/>
                </a:solidFill>
              </a:rPr>
              <a:t>DA&amp;E · AI — builds &amp; delivers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Engineers who build agents, guardrails, MCP integration and flows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407400" y="3514090"/>
            <a:ext cx="31750" cy="189230"/>
          </a:xfrm>
          <a:prstGeom prst="roundRect">
            <a:avLst>
              <a:gd name="adj" fmla="val 40000"/>
            </a:avLst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8509000" y="3501390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7048E8"/>
                </a:solidFill>
              </a:rPr>
              <a:t>S&amp;TT · Adoption — drives adoption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Drives adoption and enablement across teams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407400" y="3747769"/>
            <a:ext cx="31750" cy="189230"/>
          </a:xfrm>
          <a:prstGeom prst="roundRect">
            <a:avLst>
              <a:gd name="adj" fmla="val 4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8509000" y="3735069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E8590C"/>
                </a:solidFill>
              </a:rPr>
              <a:t>S&amp;TT · Security — governs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Security requirements behind the guardrails (assumed)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382000" y="4000499"/>
            <a:ext cx="3403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212529"/>
                </a:solidFill>
              </a:rPr>
              <a:t>Observability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407400" y="4178299"/>
            <a:ext cx="31750" cy="189230"/>
          </a:xfrm>
          <a:prstGeom prst="roundRect">
            <a:avLst>
              <a:gd name="adj" fmla="val 40000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8509000" y="4165599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1C7ED6"/>
                </a:solidFill>
              </a:rPr>
              <a:t>C&amp;D · Platform Engineering — builds &amp; delivers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Telemetry pipeline and tooling (assumed)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8407400" y="4411979"/>
            <a:ext cx="31750" cy="189230"/>
          </a:xfrm>
          <a:prstGeom prst="roundRect">
            <a:avLst>
              <a:gd name="adj" fmla="val 4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TextBox 106"/>
          <p:cNvSpPr txBox="1"/>
          <p:nvPr/>
        </p:nvSpPr>
        <p:spPr>
          <a:xfrm>
            <a:off x="8509000" y="4399279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0CA678"/>
                </a:solidFill>
              </a:rPr>
              <a:t>C&amp;D · Software Engineering — uses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Instruments applications (assumed)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8407400" y="4645659"/>
            <a:ext cx="31750" cy="189230"/>
          </a:xfrm>
          <a:prstGeom prst="roundRect">
            <a:avLst>
              <a:gd name="adj" fmla="val 40000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TextBox 108"/>
          <p:cNvSpPr txBox="1"/>
          <p:nvPr/>
        </p:nvSpPr>
        <p:spPr>
          <a:xfrm>
            <a:off x="8509000" y="4632959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1C7ED6"/>
                </a:solidFill>
              </a:rPr>
              <a:t>DA&amp;E · Data Platform — builds &amp; delivers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Stores and analyses the telemetry (assumed)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8407400" y="4879339"/>
            <a:ext cx="31750" cy="189230"/>
          </a:xfrm>
          <a:prstGeom prst="roundRect">
            <a:avLst>
              <a:gd name="adj" fmla="val 4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8509000" y="4866639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0CA678"/>
                </a:solidFill>
              </a:rPr>
              <a:t>S&amp;TT · Security — uses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Consumes signals for security monitoring (assumed)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382000" y="5132069"/>
            <a:ext cx="3403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212529"/>
                </a:solidFill>
              </a:rPr>
              <a:t>Cloud Landingzone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8407400" y="5309869"/>
            <a:ext cx="31750" cy="189230"/>
          </a:xfrm>
          <a:prstGeom prst="roundRect">
            <a:avLst>
              <a:gd name="adj" fmla="val 40000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8509000" y="5297169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1C7ED6"/>
                </a:solidFill>
              </a:rPr>
              <a:t>C&amp;D · Cloud Engineering — builds &amp; delivers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Builds and maintains the landing zone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07400" y="5543549"/>
            <a:ext cx="31750" cy="189230"/>
          </a:xfrm>
          <a:prstGeom prst="roundRect">
            <a:avLst>
              <a:gd name="adj" fmla="val 4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8509000" y="5530849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0CA678"/>
                </a:solidFill>
              </a:rPr>
              <a:t>C&amp;D · Platform Engineering — uses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The platform runs inside it (assumed)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8407400" y="5777229"/>
            <a:ext cx="31750" cy="189230"/>
          </a:xfrm>
          <a:prstGeom prst="roundRect">
            <a:avLst>
              <a:gd name="adj" fmla="val 40000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8509000" y="5764529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0CA678"/>
                </a:solidFill>
              </a:rPr>
              <a:t>DA&amp;E · Data Platform — uses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Data platform lands in it (assumed)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407400" y="6010909"/>
            <a:ext cx="31750" cy="189230"/>
          </a:xfrm>
          <a:prstGeom prst="roundRect">
            <a:avLst>
              <a:gd name="adj" fmla="val 40000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TextBox 119"/>
          <p:cNvSpPr txBox="1"/>
          <p:nvPr/>
        </p:nvSpPr>
        <p:spPr>
          <a:xfrm>
            <a:off x="8509000" y="5998209"/>
            <a:ext cx="3149600" cy="2146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832"/>
              </a:lnSpc>
            </a:pPr>
            <a:r>
              <a:rPr sz="650" b="1">
                <a:solidFill>
                  <a:srgbClr val="E8590C"/>
                </a:solidFill>
              </a:rPr>
              <a:t>S&amp;TT · Security — governs</a:t>
            </a:r>
          </a:p>
          <a:p>
            <a:pPr algn="l">
              <a:lnSpc>
                <a:spcPts val="832"/>
              </a:lnSpc>
            </a:pPr>
            <a:r>
              <a:rPr sz="650" b="0">
                <a:solidFill>
                  <a:srgbClr val="868E96"/>
                </a:solidFill>
              </a:rPr>
              <a:t>Security baseline, policies and controls (assumed)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769600" y="2794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934700" y="254000"/>
            <a:ext cx="104140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Drives adoption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48240" y="2794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213340" y="254000"/>
            <a:ext cx="5943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Governs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94520" y="2794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59620" y="254000"/>
            <a:ext cx="42672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Uses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14359" y="2794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79459" y="254000"/>
            <a:ext cx="1153160" cy="165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Builds &amp; delivers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000" y="177800"/>
            <a:ext cx="7706359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304"/>
              </a:lnSpc>
            </a:pPr>
            <a:r>
              <a:rPr sz="1800" b="1">
                <a:solidFill>
                  <a:srgbClr val="212529"/>
                </a:solidFill>
              </a:rPr>
              <a:t>Portfolio overview — who does what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000" y="469900"/>
            <a:ext cx="11684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16"/>
              </a:lnSpc>
            </a:pPr>
            <a:r>
              <a:rPr sz="950" b="0">
                <a:solidFill>
                  <a:srgbClr val="868E96"/>
                </a:solidFill>
              </a:rPr>
              <a:t>Rows are propositions · columns are divisions · colour is the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000" y="939800"/>
            <a:ext cx="16764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1">
                <a:solidFill>
                  <a:srgbClr val="868E96"/>
                </a:solidFill>
              </a:rPr>
              <a:t>Propositions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32000" y="787400"/>
            <a:ext cx="3234266" cy="558800"/>
          </a:xfrm>
          <a:prstGeom prst="roundRect">
            <a:avLst>
              <a:gd name="adj" fmla="val 9090"/>
            </a:avLst>
          </a:prstGeom>
          <a:solidFill>
            <a:srgbClr val="0B72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133600" y="850900"/>
            <a:ext cx="3031066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1050" b="1">
                <a:solidFill>
                  <a:srgbClr val="FFFFFF"/>
                </a:solidFill>
              </a:rPr>
              <a:t>Cloud &amp; Development  (C&amp;D)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C9E0E4"/>
                </a:solidFill>
              </a:rPr>
              <a:t>Software Engineering · Cloud Engineering · Platform Engineering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C9E0E4"/>
                </a:solidFill>
              </a:rPr>
              <a:t>· Workplace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67866" y="787400"/>
            <a:ext cx="3234266" cy="558800"/>
          </a:xfrm>
          <a:prstGeom prst="roundRect">
            <a:avLst>
              <a:gd name="adj" fmla="val 9090"/>
            </a:avLst>
          </a:prstGeom>
          <a:solidFill>
            <a:srgbClr val="5F3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69466" y="850900"/>
            <a:ext cx="3031066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1050" b="1">
                <a:solidFill>
                  <a:srgbClr val="FFFFFF"/>
                </a:solidFill>
              </a:rPr>
              <a:t>Data, AI &amp; Engagement  (DA&amp;E)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DCD4F2"/>
                </a:solidFill>
              </a:rPr>
              <a:t>Data Management · Data Platform · AI · Automation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03733" y="787400"/>
            <a:ext cx="3234266" cy="558800"/>
          </a:xfrm>
          <a:prstGeom prst="roundRect">
            <a:avLst>
              <a:gd name="adj" fmla="val 9090"/>
            </a:avLst>
          </a:prstGeom>
          <a:solidFill>
            <a:srgbClr val="A61E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805333" y="850900"/>
            <a:ext cx="3031066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44"/>
              </a:lnSpc>
            </a:pPr>
            <a:r>
              <a:rPr sz="1050" b="1">
                <a:solidFill>
                  <a:srgbClr val="FFFFFF"/>
                </a:solidFill>
              </a:rPr>
              <a:t>Security &amp; Technology Transformation  (S&amp;TT)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EBCED8"/>
                </a:solidFill>
              </a:rPr>
              <a:t>Transformation · Adoption · Security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4000" y="1422400"/>
            <a:ext cx="1676400" cy="929562"/>
          </a:xfrm>
          <a:prstGeom prst="roundRect">
            <a:avLst>
              <a:gd name="adj" fmla="val 5464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81000" y="1524000"/>
            <a:ext cx="1422400" cy="7263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72"/>
              </a:lnSpc>
            </a:pPr>
            <a:r>
              <a:rPr sz="1150" b="1">
                <a:solidFill>
                  <a:srgbClr val="212529"/>
                </a:solidFill>
              </a:rPr>
              <a:t>Platform Engineering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32000" y="1422400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2133600" y="1498600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8F2FB"/>
          </a:solidFill>
          <a:ln w="9525">
            <a:solidFill>
              <a:srgbClr val="99C5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133600" y="1498600"/>
            <a:ext cx="44450" cy="374396"/>
          </a:xfrm>
          <a:prstGeom prst="roundRect">
            <a:avLst>
              <a:gd name="adj" fmla="val 28571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247900" y="1549400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Platform Engineering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Builds and runs the developer platform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600" y="1936496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7F6F2"/>
          </a:solidFill>
          <a:ln w="9525">
            <a:solidFill>
              <a:srgbClr val="92D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2133600" y="1936496"/>
            <a:ext cx="44450" cy="374396"/>
          </a:xfrm>
          <a:prstGeom prst="roundRect">
            <a:avLst>
              <a:gd name="adj" fmla="val 28571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247900" y="1987296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0CA678"/>
                </a:solidFill>
              </a:rPr>
              <a:t>Software Engineering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Builds and maintains applications on 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67866" y="1422400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5469466" y="1498600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8F2FB"/>
          </a:solidFill>
          <a:ln w="9525">
            <a:solidFill>
              <a:srgbClr val="99C5E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5469466" y="1498600"/>
            <a:ext cx="44450" cy="374396"/>
          </a:xfrm>
          <a:prstGeom prst="roundRect">
            <a:avLst>
              <a:gd name="adj" fmla="val 28571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583766" y="1549400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Automation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Automation building blocks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03733" y="1422400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805333" y="1498600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F1EDFD"/>
          </a:solidFill>
          <a:ln w="9525">
            <a:solidFill>
              <a:srgbClr val="BFAD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8805333" y="1498600"/>
            <a:ext cx="44450" cy="374396"/>
          </a:xfrm>
          <a:prstGeom prst="roundRect">
            <a:avLst>
              <a:gd name="adj" fmla="val 28571"/>
            </a:avLst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919633" y="1549400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7048E8"/>
                </a:solidFill>
              </a:rPr>
              <a:t>Adoption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Onboarding of teams onto the platform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54000" y="2428162"/>
            <a:ext cx="1676400" cy="1351512"/>
          </a:xfrm>
          <a:prstGeom prst="roundRect">
            <a:avLst>
              <a:gd name="adj" fmla="val 3758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1000" y="2529762"/>
            <a:ext cx="1422400" cy="114831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72"/>
              </a:lnSpc>
            </a:pPr>
            <a:r>
              <a:rPr sz="1150" b="1">
                <a:solidFill>
                  <a:srgbClr val="212529"/>
                </a:solidFill>
              </a:rPr>
              <a:t>AI SDLC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32000" y="2428162"/>
            <a:ext cx="3234266" cy="1351512"/>
          </a:xfrm>
          <a:prstGeom prst="roundRect">
            <a:avLst>
              <a:gd name="adj" fmla="val 3758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2133600" y="2504362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8F2FB"/>
          </a:solidFill>
          <a:ln w="9525">
            <a:solidFill>
              <a:srgbClr val="99C5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2133600" y="2504362"/>
            <a:ext cx="44450" cy="374396"/>
          </a:xfrm>
          <a:prstGeom prst="roundRect">
            <a:avLst>
              <a:gd name="adj" fmla="val 28571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247900" y="2555162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Cloud Engineering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Delivers the cloud platform the AI SDLC runs 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33600" y="2942258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8F2FB"/>
          </a:solidFill>
          <a:ln w="9525">
            <a:solidFill>
              <a:srgbClr val="99C5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2133600" y="2942258"/>
            <a:ext cx="44450" cy="374396"/>
          </a:xfrm>
          <a:prstGeom prst="roundRect">
            <a:avLst>
              <a:gd name="adj" fmla="val 28571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2247900" y="2993058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Platform Engineering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Pipelines, tooling and golden paths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133600" y="3380154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7F6F2"/>
          </a:solidFill>
          <a:ln w="9525">
            <a:solidFill>
              <a:srgbClr val="92D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2133600" y="3380154"/>
            <a:ext cx="44450" cy="374396"/>
          </a:xfrm>
          <a:prstGeom prst="roundRect">
            <a:avLst>
              <a:gd name="adj" fmla="val 28571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2247900" y="3430954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0CA678"/>
                </a:solidFill>
              </a:rPr>
              <a:t>Software Engineering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Uses the AI SDLC and platform to build and maintain applications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67866" y="2428162"/>
            <a:ext cx="3234266" cy="1351512"/>
          </a:xfrm>
          <a:prstGeom prst="roundRect">
            <a:avLst>
              <a:gd name="adj" fmla="val 3758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5469466" y="2504362"/>
            <a:ext cx="3031066" cy="496316"/>
          </a:xfrm>
          <a:prstGeom prst="roundRect">
            <a:avLst>
              <a:gd name="adj" fmla="val 7676"/>
            </a:avLst>
          </a:prstGeom>
          <a:solidFill>
            <a:srgbClr val="E8F2FB"/>
          </a:solidFill>
          <a:ln w="9525">
            <a:solidFill>
              <a:srgbClr val="99C5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5469466" y="2504362"/>
            <a:ext cx="44450" cy="496316"/>
          </a:xfrm>
          <a:prstGeom prst="roundRect">
            <a:avLst>
              <a:gd name="adj" fmla="val 28571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583766" y="2555162"/>
            <a:ext cx="2827866" cy="3947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AI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Engineers who build agents, guardrails, MCP integration and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flows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03733" y="2428162"/>
            <a:ext cx="3234266" cy="1351512"/>
          </a:xfrm>
          <a:prstGeom prst="roundRect">
            <a:avLst>
              <a:gd name="adj" fmla="val 3758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8805333" y="2504362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F1EDFD"/>
          </a:solidFill>
          <a:ln w="9525">
            <a:solidFill>
              <a:srgbClr val="BFAD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8805333" y="2504362"/>
            <a:ext cx="44450" cy="374396"/>
          </a:xfrm>
          <a:prstGeom prst="roundRect">
            <a:avLst>
              <a:gd name="adj" fmla="val 28571"/>
            </a:avLst>
          </a:prstGeom>
          <a:solidFill>
            <a:srgbClr val="704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919633" y="2555162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7048E8"/>
                </a:solidFill>
              </a:rPr>
              <a:t>Adoption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Drives adoption and enablement across teams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05333" y="2942258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FDEEE7"/>
          </a:solidFill>
          <a:ln w="9525">
            <a:solidFill>
              <a:srgbClr val="F5B49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8805333" y="2942258"/>
            <a:ext cx="44450" cy="374396"/>
          </a:xfrm>
          <a:prstGeom prst="roundRect">
            <a:avLst>
              <a:gd name="adj" fmla="val 28571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8919633" y="2993058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E8590C"/>
                </a:solidFill>
              </a:rPr>
              <a:t>Security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Security requirements behind the guardrails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54000" y="3855874"/>
            <a:ext cx="1676400" cy="929562"/>
          </a:xfrm>
          <a:prstGeom prst="roundRect">
            <a:avLst>
              <a:gd name="adj" fmla="val 5464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381000" y="3957474"/>
            <a:ext cx="1422400" cy="7263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72"/>
              </a:lnSpc>
            </a:pPr>
            <a:r>
              <a:rPr sz="1150" b="1">
                <a:solidFill>
                  <a:srgbClr val="212529"/>
                </a:solidFill>
              </a:rPr>
              <a:t>Observability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032000" y="3855874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2133600" y="3932074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8F2FB"/>
          </a:solidFill>
          <a:ln w="9525">
            <a:solidFill>
              <a:srgbClr val="99C5E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2133600" y="3932074"/>
            <a:ext cx="44450" cy="374396"/>
          </a:xfrm>
          <a:prstGeom prst="roundRect">
            <a:avLst>
              <a:gd name="adj" fmla="val 28571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2247900" y="3982874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Platform Engineering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Telemetry pipeline and tooling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133600" y="4369970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7F6F2"/>
          </a:solidFill>
          <a:ln w="9525">
            <a:solidFill>
              <a:srgbClr val="92D7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2133600" y="4369970"/>
            <a:ext cx="44450" cy="374396"/>
          </a:xfrm>
          <a:prstGeom prst="roundRect">
            <a:avLst>
              <a:gd name="adj" fmla="val 28571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2247900" y="4420770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0CA678"/>
                </a:solidFill>
              </a:rPr>
              <a:t>Software Engineering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Instruments applications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367866" y="3855874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ounded Rectangle 68"/>
          <p:cNvSpPr/>
          <p:nvPr/>
        </p:nvSpPr>
        <p:spPr>
          <a:xfrm>
            <a:off x="5469466" y="3932074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8F2FB"/>
          </a:solidFill>
          <a:ln w="9525">
            <a:solidFill>
              <a:srgbClr val="99C5E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5469466" y="3932074"/>
            <a:ext cx="44450" cy="374396"/>
          </a:xfrm>
          <a:prstGeom prst="roundRect">
            <a:avLst>
              <a:gd name="adj" fmla="val 28571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5583766" y="3982874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Data Platform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Stores and analyses the telemetry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703733" y="3855874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ounded Rectangle 72"/>
          <p:cNvSpPr/>
          <p:nvPr/>
        </p:nvSpPr>
        <p:spPr>
          <a:xfrm>
            <a:off x="8805333" y="3932074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7F6F2"/>
          </a:solidFill>
          <a:ln w="9525">
            <a:solidFill>
              <a:srgbClr val="92D7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ounded Rectangle 73"/>
          <p:cNvSpPr/>
          <p:nvPr/>
        </p:nvSpPr>
        <p:spPr>
          <a:xfrm>
            <a:off x="8805333" y="3932074"/>
            <a:ext cx="44450" cy="374396"/>
          </a:xfrm>
          <a:prstGeom prst="roundRect">
            <a:avLst>
              <a:gd name="adj" fmla="val 28571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8919633" y="3982874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0CA678"/>
                </a:solidFill>
              </a:rPr>
              <a:t>Security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Consumes signals for security monitoring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54000" y="4861637"/>
            <a:ext cx="1676400" cy="929562"/>
          </a:xfrm>
          <a:prstGeom prst="roundRect">
            <a:avLst>
              <a:gd name="adj" fmla="val 5464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381000" y="4963237"/>
            <a:ext cx="1422400" cy="7263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72"/>
              </a:lnSpc>
            </a:pPr>
            <a:r>
              <a:rPr sz="1150" b="1">
                <a:solidFill>
                  <a:srgbClr val="212529"/>
                </a:solidFill>
              </a:rPr>
              <a:t>Cloud Landingzone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032000" y="4861637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2133600" y="4937837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8F2FB"/>
          </a:solidFill>
          <a:ln w="9525">
            <a:solidFill>
              <a:srgbClr val="99C5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/>
          <p:cNvSpPr/>
          <p:nvPr/>
        </p:nvSpPr>
        <p:spPr>
          <a:xfrm>
            <a:off x="2133600" y="4937837"/>
            <a:ext cx="44450" cy="374396"/>
          </a:xfrm>
          <a:prstGeom prst="roundRect">
            <a:avLst>
              <a:gd name="adj" fmla="val 28571"/>
            </a:avLst>
          </a:prstGeom>
          <a:solidFill>
            <a:srgbClr val="1C7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2247900" y="4988637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1C7ED6"/>
                </a:solidFill>
              </a:rPr>
              <a:t>Cloud Engineering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Builds and maintains the landing zone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2133600" y="5375733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7F6F2"/>
          </a:solidFill>
          <a:ln w="9525">
            <a:solidFill>
              <a:srgbClr val="92D7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2133600" y="5375733"/>
            <a:ext cx="44450" cy="374396"/>
          </a:xfrm>
          <a:prstGeom prst="roundRect">
            <a:avLst>
              <a:gd name="adj" fmla="val 28571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2247900" y="5426533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0CA678"/>
                </a:solidFill>
              </a:rPr>
              <a:t>Platform Engineering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The platform runs inside it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367866" y="4861637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ounded Rectangle 85"/>
          <p:cNvSpPr/>
          <p:nvPr/>
        </p:nvSpPr>
        <p:spPr>
          <a:xfrm>
            <a:off x="5469466" y="4937837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E7F6F2"/>
          </a:solidFill>
          <a:ln w="9525">
            <a:solidFill>
              <a:srgbClr val="92D7C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5469466" y="4937837"/>
            <a:ext cx="44450" cy="374396"/>
          </a:xfrm>
          <a:prstGeom prst="roundRect">
            <a:avLst>
              <a:gd name="adj" fmla="val 28571"/>
            </a:avLst>
          </a:prstGeom>
          <a:solidFill>
            <a:srgbClr val="0CA6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5583766" y="4988637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0CA678"/>
                </a:solidFill>
              </a:rPr>
              <a:t>Data Platform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Data platform lands in it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703733" y="4861637"/>
            <a:ext cx="3234266" cy="92956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8805333" y="4937837"/>
            <a:ext cx="3031066" cy="374396"/>
          </a:xfrm>
          <a:prstGeom prst="roundRect">
            <a:avLst>
              <a:gd name="adj" fmla="val 10176"/>
            </a:avLst>
          </a:prstGeom>
          <a:solidFill>
            <a:srgbClr val="FDEEE7"/>
          </a:solidFill>
          <a:ln w="9525">
            <a:solidFill>
              <a:srgbClr val="F5B49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8805333" y="4937837"/>
            <a:ext cx="44450" cy="374396"/>
          </a:xfrm>
          <a:prstGeom prst="roundRect">
            <a:avLst>
              <a:gd name="adj" fmla="val 28571"/>
            </a:avLst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8919633" y="4988637"/>
            <a:ext cx="2827866" cy="2727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8"/>
              </a:lnSpc>
            </a:pPr>
            <a:r>
              <a:rPr sz="850" b="1">
                <a:solidFill>
                  <a:srgbClr val="E8590C"/>
                </a:solidFill>
              </a:rPr>
              <a:t>Security  (assumed)</a:t>
            </a:r>
          </a:p>
          <a:p>
            <a:pPr algn="l">
              <a:lnSpc>
                <a:spcPts val="960"/>
              </a:lnSpc>
            </a:pPr>
            <a:r>
              <a:rPr sz="750" b="0">
                <a:solidFill>
                  <a:srgbClr val="212529"/>
                </a:solidFill>
              </a:rPr>
              <a:t>Security baseline, policies and controls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54000" y="5803900"/>
            <a:ext cx="3810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sz="900" b="1">
                <a:solidFill>
                  <a:srgbClr val="868E96"/>
                </a:solidFill>
              </a:rPr>
              <a:t>How it fits together</a:t>
            </a:r>
          </a:p>
        </p:txBody>
      </p:sp>
      <p:sp>
        <p:nvSpPr>
          <p:cNvPr id="94" name="Chevron 93"/>
          <p:cNvSpPr/>
          <p:nvPr/>
        </p:nvSpPr>
        <p:spPr>
          <a:xfrm>
            <a:off x="254000" y="5969000"/>
            <a:ext cx="2870200" cy="635000"/>
          </a:xfrm>
          <a:prstGeom prst="chevron">
            <a:avLst>
              <a:gd name="adj" fmla="val 22000"/>
            </a:avLst>
          </a:prstGeom>
          <a:solidFill>
            <a:srgbClr val="E2EEF0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1300" rIns="0" tIns="0" bIns="0"/>
          <a:lstStyle/>
          <a:p>
            <a:pPr algn="l">
              <a:lnSpc>
                <a:spcPts val="1152"/>
              </a:lnSpc>
            </a:pPr>
            <a:r>
              <a:rPr sz="900" b="1">
                <a:solidFill>
                  <a:srgbClr val="0B7285"/>
                </a:solidFill>
              </a:rPr>
              <a:t>C&amp;D</a:t>
            </a:r>
          </a:p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Cloud platform &amp; landing zone</a:t>
            </a:r>
          </a:p>
        </p:txBody>
      </p:sp>
      <p:sp>
        <p:nvSpPr>
          <p:cNvPr id="95" name="Chevron 94"/>
          <p:cNvSpPr/>
          <p:nvPr/>
        </p:nvSpPr>
        <p:spPr>
          <a:xfrm>
            <a:off x="3175000" y="5969000"/>
            <a:ext cx="2870200" cy="635000"/>
          </a:xfrm>
          <a:prstGeom prst="chevron">
            <a:avLst>
              <a:gd name="adj" fmla="val 22000"/>
            </a:avLst>
          </a:prstGeom>
          <a:solidFill>
            <a:srgbClr val="ECE8F8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1300" rIns="0" tIns="0" bIns="0"/>
          <a:lstStyle/>
          <a:p>
            <a:pPr algn="l">
              <a:lnSpc>
                <a:spcPts val="1152"/>
              </a:lnSpc>
            </a:pPr>
            <a:r>
              <a:rPr sz="900" b="1">
                <a:solidFill>
                  <a:srgbClr val="5F3DC4"/>
                </a:solidFill>
              </a:rPr>
              <a:t>DA&amp;E</a:t>
            </a:r>
          </a:p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Agents, guardrails, MCP, flows</a:t>
            </a:r>
          </a:p>
        </p:txBody>
      </p:sp>
      <p:sp>
        <p:nvSpPr>
          <p:cNvPr id="96" name="Chevron 95"/>
          <p:cNvSpPr/>
          <p:nvPr/>
        </p:nvSpPr>
        <p:spPr>
          <a:xfrm>
            <a:off x="6096000" y="5969000"/>
            <a:ext cx="2870200" cy="635000"/>
          </a:xfrm>
          <a:prstGeom prst="chevron">
            <a:avLst>
              <a:gd name="adj" fmla="val 22000"/>
            </a:avLst>
          </a:prstGeom>
          <a:solidFill>
            <a:srgbClr val="E2EEF0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1300" rIns="0" tIns="0" bIns="0"/>
          <a:lstStyle/>
          <a:p>
            <a:pPr algn="l">
              <a:lnSpc>
                <a:spcPts val="1152"/>
              </a:lnSpc>
            </a:pPr>
            <a:r>
              <a:rPr sz="900" b="1">
                <a:solidFill>
                  <a:srgbClr val="0B7285"/>
                </a:solidFill>
              </a:rPr>
              <a:t>C&amp;D</a:t>
            </a:r>
          </a:p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Software engineering builds &amp; maintains apps</a:t>
            </a:r>
          </a:p>
        </p:txBody>
      </p:sp>
      <p:sp>
        <p:nvSpPr>
          <p:cNvPr id="97" name="Chevron 96"/>
          <p:cNvSpPr/>
          <p:nvPr/>
        </p:nvSpPr>
        <p:spPr>
          <a:xfrm>
            <a:off x="9017000" y="5969000"/>
            <a:ext cx="2870200" cy="635000"/>
          </a:xfrm>
          <a:prstGeom prst="chevron">
            <a:avLst>
              <a:gd name="adj" fmla="val 22000"/>
            </a:avLst>
          </a:prstGeom>
          <a:solidFill>
            <a:srgbClr val="F4E4EA"/>
          </a:solidFill>
          <a:ln w="9525">
            <a:solidFill>
              <a:srgbClr val="DE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241300" rIns="0" tIns="0" bIns="0"/>
          <a:lstStyle/>
          <a:p>
            <a:pPr algn="l">
              <a:lnSpc>
                <a:spcPts val="1152"/>
              </a:lnSpc>
            </a:pPr>
            <a:r>
              <a:rPr sz="900" b="1">
                <a:solidFill>
                  <a:srgbClr val="A61E4D"/>
                </a:solidFill>
              </a:rPr>
              <a:t>S&amp;TT</a:t>
            </a:r>
          </a:p>
          <a:p>
            <a:pPr algn="l">
              <a:lnSpc>
                <a:spcPts val="1024"/>
              </a:lnSpc>
            </a:pPr>
            <a:r>
              <a:rPr sz="800" b="0">
                <a:solidFill>
                  <a:srgbClr val="212529"/>
                </a:solidFill>
              </a:rPr>
              <a:t>Adoption, transformation &amp;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